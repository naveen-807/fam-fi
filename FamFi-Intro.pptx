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ef6a5fa-5d2a-6f1e-bcd5-87fce3c108b4}">
          <p14:sldIdLst>
            <p14:sldId id="256"/>
          </p14:sldIdLst>
        </p14:section>
        <p14:section name="Problem" id="{5cb5aace-968b-c090-35cc-fabd1fae01de}">
          <p14:sldIdLst>
            <p14:sldId id="257"/>
          </p14:sldIdLst>
        </p14:section>
        <p14:section name="Solution" id="{c40f6073-0719-d6e9-112a-18476a49684c}">
          <p14:sldIdLst>
            <p14:sldId id="258"/>
            <p14:sldId id="259"/>
          </p14:sldIdLst>
        </p14:section>
        <p14:section name="Vision" id="{c6047c36-568a-8c83-e1c4-38da9a189496}">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Naveen. This is Fam-Fi: a family-guided first step into crypto for teens. My belief is simple: a teen's first crypto experience should begin with someone they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Teens hear about crypto all the time, but nobody shows them where to start. Wallets, transactions and gas fees are unfamiliar, there are few practical chances to earn, spend and save, and parents need simple tools to guide them and set boundaries. The gap is a clear, family-guided path from curiosity to confident crypto use. Pocket money today, crypto confidence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Fam-Fi turns allowance into a teen's first hands-on crypto experience, with family guidance built in. Earn it through parent-funded missions. Use it to pay friends and split expenses within parent-set limits. Grow it by saving toward goals, with relatives matching contributions. And see progress in a Progress Passport.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Familiar login, readable Fam-IDs, sponsored gas, and a real reason to use crypto. A parent creates a family, the teen joins, and the parent sets allowance and spending rules. The teen earns through missions, pays or requests money, and saves toward goals. The family sees progress, with matching gifts from relatives, a Progress Passport, a Weekly Brief and FutureFund.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guide; teens get useful independence. The next generation deserves a better first step into crypto. I'm building Fam-Fi because hearing about crypto isn't enough to understand it. Teens need a reason to use it, room to learn, and someone they trust beside them. My vision is to make the family a doorway into crypto, helping teens grow into confident, independent users.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COV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1234440"/>
            <a:ext cx="493776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TITLE_ONLY">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9144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365760"/>
            <a:ext cx="8046720" cy="10058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2743200" cy="365760"/>
          </a:xfrm>
          <a:prstGeom prst="rect">
            <a:avLst/>
          </a:prstGeom>
          <a:noFill/>
          <a:ln/>
        </p:spPr>
        <p:txBody>
          <a:bodyPr wrap="square" lIns="0" tIns="0" rIns="0" bIns="0" rtlCol="0" anchor="ctr"/>
          <a:lstStyle/>
          <a:p>
            <a:pPr indent="0" marL="0">
              <a:buNone/>
            </a:pPr>
            <a:r>
              <a:rPr lang="en-US" sz="2200" b="1" dirty="0">
                <a:solidFill>
                  <a:schemeClr val="accent1"/>
                </a:solidFill>
              </a:rPr>
              <a:t>fam-fi.</a:t>
            </a:r>
            <a:endParaRPr lang="en-US" sz="2200" dirty="0"/>
          </a:p>
        </p:txBody>
      </p:sp>
      <p:sp>
        <p:nvSpPr>
          <p:cNvPr id="3" name="Text 1"/>
          <p:cNvSpPr/>
          <p:nvPr>
            <p:ph idx="101" type="title" hasCustomPrompt="1"/>
          </p:nvPr>
        </p:nvSpPr>
        <p:spPr>
          <a:xfrm>
            <a:off x="548640" y="1234440"/>
            <a:ext cx="4937760" cy="914400"/>
          </a:xfrm>
          <a:prstGeom prst="rect">
            <a:avLst/>
          </a:prstGeom>
          <a:noFill/>
          <a:ln/>
        </p:spPr>
        <p:txBody>
          <a:bodyPr wrap="square" lIns="0" tIns="0" rIns="0" bIns="0" rtlCol="0" anchor="t"/>
          <a:lstStyle/>
          <a:p>
            <a:pPr algn="l" indent="0" marL="0">
              <a:buNone/>
            </a:pPr>
            <a:r>
              <a:rPr lang="en-US" sz="5400" b="1" dirty="0">
                <a:solidFill>
                  <a:schemeClr val="bg1"/>
                </a:solidFill>
              </a:rPr>
              <a:t>Meet Fam-Fi</a:t>
            </a:r>
            <a:endParaRPr lang="en-US" sz="5400" dirty="0"/>
          </a:p>
        </p:txBody>
      </p:sp>
      <p:sp>
        <p:nvSpPr>
          <p:cNvPr id="4" name="Text 2"/>
          <p:cNvSpPr txBox="1"/>
          <p:nvPr/>
        </p:nvSpPr>
        <p:spPr>
          <a:xfrm>
            <a:off x="548640" y="2103120"/>
            <a:ext cx="4754880" cy="731520"/>
          </a:xfrm>
          <a:prstGeom prst="rect">
            <a:avLst/>
          </a:prstGeom>
          <a:noFill/>
          <a:ln/>
        </p:spPr>
        <p:txBody>
          <a:bodyPr wrap="square" lIns="0" tIns="0" rIns="0" bIns="0" rtlCol="0" anchor="t"/>
          <a:lstStyle/>
          <a:p>
            <a:pPr indent="0" marL="0">
              <a:buNone/>
            </a:pPr>
            <a:r>
              <a:rPr lang="en-US" sz="2200" dirty="0">
                <a:solidFill>
                  <a:schemeClr val="bg1"/>
                </a:solidFill>
              </a:rPr>
              <a:t>A family-guided first step</a:t>
            </a:r>
            <a:endParaRPr lang="en-US" sz="2200" dirty="0"/>
          </a:p>
          <a:p>
            <a:pPr indent="0" marL="0">
              <a:buNone/>
            </a:pPr>
            <a:r>
              <a:rPr lang="en-US" sz="2200" dirty="0">
                <a:solidFill>
                  <a:schemeClr val="bg1"/>
                </a:solidFill>
              </a:rPr>
              <a:t>into crypto for teens.</a:t>
            </a:r>
            <a:endParaRPr lang="en-US" sz="2200" dirty="0"/>
          </a:p>
        </p:txBody>
      </p:sp>
      <p:sp>
        <p:nvSpPr>
          <p:cNvPr id="5" name="Text 3"/>
          <p:cNvSpPr txBox="1"/>
          <p:nvPr/>
        </p:nvSpPr>
        <p:spPr>
          <a:xfrm>
            <a:off x="548640" y="3017520"/>
            <a:ext cx="4754880" cy="822960"/>
          </a:xfrm>
          <a:prstGeom prst="rect">
            <a:avLst/>
          </a:prstGeom>
          <a:noFill/>
          <a:ln/>
        </p:spPr>
        <p:txBody>
          <a:bodyPr wrap="square" lIns="0" tIns="0" rIns="0" bIns="0" rtlCol="0" anchor="t"/>
          <a:lstStyle/>
          <a:p>
            <a:pPr indent="0" marL="0">
              <a:buNone/>
            </a:pPr>
            <a:r>
              <a:rPr lang="en-US" sz="1600" i="1" dirty="0">
                <a:solidFill>
                  <a:schemeClr val="accent1"/>
                </a:solidFill>
              </a:rPr>
              <a:t>“A teen’s first crypto experience should begin with someone they trust.”</a:t>
            </a:r>
            <a:endParaRPr lang="en-US" sz="1600" dirty="0"/>
          </a:p>
        </p:txBody>
      </p:sp>
      <p:sp>
        <p:nvSpPr>
          <p:cNvPr id="6" name="Text 4"/>
          <p:cNvSpPr txBox="1"/>
          <p:nvPr/>
        </p:nvSpPr>
        <p:spPr>
          <a:xfrm>
            <a:off x="548640" y="4206240"/>
            <a:ext cx="4572000" cy="365760"/>
          </a:xfrm>
          <a:prstGeom prst="rect">
            <a:avLst/>
          </a:prstGeom>
          <a:noFill/>
          <a:ln/>
        </p:spPr>
        <p:txBody>
          <a:bodyPr wrap="square" lIns="0" tIns="0" rIns="0" bIns="0" rtlCol="0" anchor="ctr"/>
          <a:lstStyle/>
          <a:p>
            <a:pPr indent="0" marL="0">
              <a:buNone/>
            </a:pPr>
            <a:r>
              <a:rPr lang="en-US" sz="1800" dirty="0">
                <a:solidFill>
                  <a:schemeClr val="accent6"/>
                </a:solidFill>
              </a:rPr>
              <a:t>Team  </a:t>
            </a:r>
            <a:pPr indent="0" marL="0">
              <a:buNone/>
            </a:pPr>
            <a:r>
              <a:rPr lang="en-US" sz="1800" b="1" dirty="0">
                <a:solidFill>
                  <a:schemeClr val="bg1"/>
                </a:solidFill>
              </a:rPr>
              <a:t>Naveen R S</a:t>
            </a:r>
            <a:endParaRPr lang="en-US" sz="1800" dirty="0"/>
          </a:p>
        </p:txBody>
      </p:sp>
      <p:sp>
        <p:nvSpPr>
          <p:cNvPr id="7" name="Cover arch frame top"/>
          <p:cNvSpPr/>
          <p:nvPr/>
        </p:nvSpPr>
        <p:spPr>
          <a:xfrm>
            <a:off x="5760720" y="685800"/>
            <a:ext cx="2834640" cy="2834640"/>
          </a:xfrm>
          <a:prstGeom prst="ellipse">
            <a:avLst/>
          </a:prstGeom>
          <a:solidFill>
            <a:schemeClr val="accent1"/>
          </a:solidFill>
          <a:ln/>
        </p:spPr>
      </p:sp>
      <p:sp>
        <p:nvSpPr>
          <p:cNvPr id="8" name="Cover arch frame base"/>
          <p:cNvSpPr/>
          <p:nvPr/>
        </p:nvSpPr>
        <p:spPr>
          <a:xfrm>
            <a:off x="5760720" y="2103120"/>
            <a:ext cx="2834640" cy="2606040"/>
          </a:xfrm>
          <a:prstGeom prst="rect">
            <a:avLst/>
          </a:prstGeom>
          <a:solidFill>
            <a:schemeClr val="accent1"/>
          </a:solidFill>
          <a:ln/>
        </p:spPr>
      </p:sp>
      <p:sp>
        <p:nvSpPr>
          <p:cNvPr id="9" name="Cover arch inner top"/>
          <p:cNvSpPr/>
          <p:nvPr/>
        </p:nvSpPr>
        <p:spPr>
          <a:xfrm>
            <a:off x="5824728" y="749808"/>
            <a:ext cx="2706624" cy="2706624"/>
          </a:xfrm>
          <a:prstGeom prst="ellipse">
            <a:avLst/>
          </a:prstGeom>
          <a:solidFill>
            <a:schemeClr val="tx2"/>
          </a:solidFill>
          <a:ln/>
        </p:spPr>
      </p:sp>
      <p:sp>
        <p:nvSpPr>
          <p:cNvPr id="10" name="Cover arch inner base"/>
          <p:cNvSpPr/>
          <p:nvPr/>
        </p:nvSpPr>
        <p:spPr>
          <a:xfrm>
            <a:off x="5824728" y="2103120"/>
            <a:ext cx="2706624" cy="2542032"/>
          </a:xfrm>
          <a:prstGeom prst="rect">
            <a:avLst/>
          </a:prstGeom>
          <a:solidFill>
            <a:schemeClr val="tx2"/>
          </a:solidFill>
          <a:ln/>
        </p:spPr>
      </p:sp>
      <p:sp>
        <p:nvSpPr>
          <p:cNvPr id="11" name="Link parent-teen"/>
          <p:cNvSpPr/>
          <p:nvPr/>
        </p:nvSpPr>
        <p:spPr>
          <a:xfrm>
            <a:off x="6537960" y="2286000"/>
            <a:ext cx="457200" cy="502920"/>
          </a:xfrm>
          <a:prstGeom prst="line">
            <a:avLst/>
          </a:prstGeom>
          <a:noFill/>
          <a:ln w="19050">
            <a:solidFill>
              <a:schemeClr val="accent1"/>
            </a:solidFill>
            <a:prstDash val="dash"/>
          </a:ln>
        </p:spPr>
      </p:sp>
      <p:sp>
        <p:nvSpPr>
          <p:cNvPr id="12" name="Link relative-teen"/>
          <p:cNvSpPr/>
          <p:nvPr/>
        </p:nvSpPr>
        <p:spPr>
          <a:xfrm flipH="1">
            <a:off x="7360920" y="2286000"/>
            <a:ext cx="457200" cy="502920"/>
          </a:xfrm>
          <a:prstGeom prst="line">
            <a:avLst/>
          </a:prstGeom>
          <a:noFill/>
          <a:ln w="19050">
            <a:solidFill>
              <a:schemeClr val="accent1"/>
            </a:solidFill>
            <a:prstDash val="dash"/>
          </a:ln>
        </p:spPr>
      </p:sp>
      <p:sp>
        <p:nvSpPr>
          <p:cNvPr id="13" name="Parent avatar"/>
          <p:cNvSpPr/>
          <p:nvPr/>
        </p:nvSpPr>
        <p:spPr>
          <a:xfrm>
            <a:off x="5989320" y="1325880"/>
            <a:ext cx="731520" cy="731520"/>
          </a:xfrm>
          <a:prstGeom prst="ellipse">
            <a:avLst/>
          </a:prstGeom>
          <a:solidFill>
            <a:schemeClr val="tx1"/>
          </a:solidFill>
          <a:ln w="31750">
            <a:solidFill>
              <a:schemeClr val="accent1"/>
            </a:solidFill>
            <a:prstDash val="solid"/>
          </a:ln>
        </p:spPr>
      </p:sp>
      <p:sp>
        <p:nvSpPr>
          <p:cNvPr id="14" name="Text 12"/>
          <p:cNvSpPr txBox="1"/>
          <p:nvPr/>
        </p:nvSpPr>
        <p:spPr>
          <a:xfrm>
            <a:off x="5989320" y="1325880"/>
            <a:ext cx="731520" cy="731520"/>
          </a:xfrm>
          <a:prstGeom prst="rect">
            <a:avLst/>
          </a:prstGeom>
          <a:noFill/>
          <a:ln/>
        </p:spPr>
        <p:txBody>
          <a:bodyPr wrap="square" lIns="0" tIns="0" rIns="0" bIns="0" rtlCol="0" anchor="ctr"/>
          <a:lstStyle/>
          <a:p>
            <a:pPr algn="ctr" indent="0" marL="0">
              <a:buNone/>
            </a:pPr>
            <a:r>
              <a:rPr lang="en-US" sz="1600" b="1" dirty="0">
                <a:solidFill>
                  <a:schemeClr val="accent1"/>
                </a:solidFill>
              </a:rPr>
              <a:t>FA</a:t>
            </a:r>
            <a:endParaRPr lang="en-US" sz="1600" dirty="0"/>
          </a:p>
        </p:txBody>
      </p:sp>
      <p:sp>
        <p:nvSpPr>
          <p:cNvPr id="15" name="Text 13"/>
          <p:cNvSpPr txBox="1"/>
          <p:nvPr/>
        </p:nvSpPr>
        <p:spPr>
          <a:xfrm>
            <a:off x="5715000" y="2112264"/>
            <a:ext cx="1280160" cy="256032"/>
          </a:xfrm>
          <a:prstGeom prst="rect">
            <a:avLst/>
          </a:prstGeom>
          <a:noFill/>
          <a:ln/>
        </p:spPr>
        <p:txBody>
          <a:bodyPr wrap="square" lIns="0" tIns="0" rIns="0" bIns="0" rtlCol="0" anchor="ctr"/>
          <a:lstStyle/>
          <a:p>
            <a:pPr algn="ctr" indent="0" marL="0">
              <a:buNone/>
            </a:pPr>
            <a:r>
              <a:rPr lang="en-US" sz="1200" dirty="0">
                <a:solidFill>
                  <a:schemeClr val="accent6"/>
                </a:solidFill>
              </a:rPr>
              <a:t>Parent</a:t>
            </a:r>
            <a:endParaRPr lang="en-US" sz="1200" dirty="0"/>
          </a:p>
        </p:txBody>
      </p:sp>
      <p:sp>
        <p:nvSpPr>
          <p:cNvPr id="16" name="Relative avatar"/>
          <p:cNvSpPr/>
          <p:nvPr/>
        </p:nvSpPr>
        <p:spPr>
          <a:xfrm>
            <a:off x="7635240" y="1325880"/>
            <a:ext cx="731520" cy="731520"/>
          </a:xfrm>
          <a:prstGeom prst="ellipse">
            <a:avLst/>
          </a:prstGeom>
          <a:solidFill>
            <a:schemeClr val="tx1"/>
          </a:solidFill>
          <a:ln w="31750">
            <a:solidFill>
              <a:schemeClr val="accent4"/>
            </a:solidFill>
            <a:prstDash val="solid"/>
          </a:ln>
        </p:spPr>
      </p:sp>
      <p:sp>
        <p:nvSpPr>
          <p:cNvPr id="17" name="Text 15"/>
          <p:cNvSpPr txBox="1"/>
          <p:nvPr/>
        </p:nvSpPr>
        <p:spPr>
          <a:xfrm>
            <a:off x="7635240" y="1325880"/>
            <a:ext cx="731520" cy="731520"/>
          </a:xfrm>
          <a:prstGeom prst="rect">
            <a:avLst/>
          </a:prstGeom>
          <a:noFill/>
          <a:ln/>
        </p:spPr>
        <p:txBody>
          <a:bodyPr wrap="square" lIns="0" tIns="0" rIns="0" bIns="0" rtlCol="0" anchor="ctr"/>
          <a:lstStyle/>
          <a:p>
            <a:pPr algn="ctr" indent="0" marL="0">
              <a:buNone/>
            </a:pPr>
            <a:r>
              <a:rPr lang="en-US" sz="1600" b="1" dirty="0">
                <a:solidFill>
                  <a:schemeClr val="accent4"/>
                </a:solidFill>
              </a:rPr>
              <a:t>RE</a:t>
            </a:r>
            <a:endParaRPr lang="en-US" sz="1600" dirty="0"/>
          </a:p>
        </p:txBody>
      </p:sp>
      <p:sp>
        <p:nvSpPr>
          <p:cNvPr id="18" name="Text 16"/>
          <p:cNvSpPr txBox="1"/>
          <p:nvPr/>
        </p:nvSpPr>
        <p:spPr>
          <a:xfrm>
            <a:off x="7360920" y="2112264"/>
            <a:ext cx="1280160" cy="256032"/>
          </a:xfrm>
          <a:prstGeom prst="rect">
            <a:avLst/>
          </a:prstGeom>
          <a:noFill/>
          <a:ln/>
        </p:spPr>
        <p:txBody>
          <a:bodyPr wrap="square" lIns="0" tIns="0" rIns="0" bIns="0" rtlCol="0" anchor="ctr"/>
          <a:lstStyle/>
          <a:p>
            <a:pPr algn="ctr" indent="0" marL="0">
              <a:buNone/>
            </a:pPr>
            <a:r>
              <a:rPr lang="en-US" sz="1200" dirty="0">
                <a:solidFill>
                  <a:schemeClr val="accent6"/>
                </a:solidFill>
              </a:rPr>
              <a:t>Relative</a:t>
            </a:r>
            <a:endParaRPr lang="en-US" sz="1200" dirty="0"/>
          </a:p>
        </p:txBody>
      </p:sp>
      <p:sp>
        <p:nvSpPr>
          <p:cNvPr id="19" name="Teen avatar"/>
          <p:cNvSpPr/>
          <p:nvPr/>
        </p:nvSpPr>
        <p:spPr>
          <a:xfrm>
            <a:off x="6720840" y="2697480"/>
            <a:ext cx="914400" cy="914400"/>
          </a:xfrm>
          <a:prstGeom prst="ellipse">
            <a:avLst/>
          </a:prstGeom>
          <a:solidFill>
            <a:schemeClr val="tx1"/>
          </a:solidFill>
          <a:ln w="31750">
            <a:solidFill>
              <a:schemeClr val="accent3"/>
            </a:solidFill>
            <a:prstDash val="solid"/>
          </a:ln>
        </p:spPr>
      </p:sp>
      <p:sp>
        <p:nvSpPr>
          <p:cNvPr id="20" name="Text 18"/>
          <p:cNvSpPr txBox="1"/>
          <p:nvPr/>
        </p:nvSpPr>
        <p:spPr>
          <a:xfrm>
            <a:off x="6720840" y="2697480"/>
            <a:ext cx="914400" cy="914400"/>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21" name="Text 19"/>
          <p:cNvSpPr txBox="1"/>
          <p:nvPr/>
        </p:nvSpPr>
        <p:spPr>
          <a:xfrm>
            <a:off x="6537960" y="3666744"/>
            <a:ext cx="1280160" cy="256032"/>
          </a:xfrm>
          <a:prstGeom prst="rect">
            <a:avLst/>
          </a:prstGeom>
          <a:noFill/>
          <a:ln/>
        </p:spPr>
        <p:txBody>
          <a:bodyPr wrap="square" lIns="0" tIns="0" rIns="0" bIns="0" rtlCol="0" anchor="ctr"/>
          <a:lstStyle/>
          <a:p>
            <a:pPr algn="ctr" indent="0" marL="0">
              <a:buNone/>
            </a:pPr>
            <a:r>
              <a:rPr lang="en-US" sz="1200" dirty="0">
                <a:solidFill>
                  <a:schemeClr val="accent6"/>
                </a:solidFill>
              </a:rPr>
              <a:t>Teen</a:t>
            </a:r>
            <a:endParaRPr lang="en-US" sz="1200" dirty="0"/>
          </a:p>
        </p:txBody>
      </p:sp>
      <p:sp>
        <p:nvSpPr>
          <p:cNvPr id="22" name="Text 20"/>
          <p:cNvSpPr txBox="1"/>
          <p:nvPr/>
        </p:nvSpPr>
        <p:spPr>
          <a:xfrm>
            <a:off x="6035040" y="4160520"/>
            <a:ext cx="2286000" cy="320040"/>
          </a:xfrm>
          <a:prstGeom prst="rect">
            <a:avLst/>
          </a:prstGeom>
          <a:noFill/>
          <a:ln/>
        </p:spPr>
        <p:txBody>
          <a:bodyPr wrap="square" lIns="0" tIns="0" rIns="0" bIns="0" rtlCol="0" anchor="ctr"/>
          <a:lstStyle/>
          <a:p>
            <a:pPr algn="ctr" indent="0" marL="0">
              <a:buNone/>
            </a:pPr>
            <a:r>
              <a:rPr lang="en-US" sz="1400" b="1" dirty="0">
                <a:solidFill>
                  <a:schemeClr val="accent1"/>
                </a:solidFill>
              </a:rPr>
              <a:t>family → crypto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914400"/>
          </a:xfrm>
          <a:prstGeom prst="rect">
            <a:avLst/>
          </a:prstGeom>
          <a:noFill/>
          <a:ln/>
        </p:spPr>
        <p:txBody>
          <a:bodyPr wrap="square" lIns="0" tIns="0" rIns="0" bIns="0" rtlCol="0" anchor="t"/>
          <a:lstStyle/>
          <a:p>
            <a:pPr algn="l" indent="0" marL="0">
              <a:buNone/>
            </a:pPr>
            <a:r>
              <a:rPr lang="en-US" sz="3600" b="1" dirty="0">
                <a:solidFill>
                  <a:schemeClr val="tx1"/>
                </a:solidFill>
              </a:rPr>
              <a:t>Teens hear about crypto, but don’t know where to start</a:t>
            </a:r>
            <a:endParaRPr lang="en-US" sz="3600" dirty="0"/>
          </a:p>
        </p:txBody>
      </p:sp>
      <p:sp>
        <p:nvSpPr>
          <p:cNvPr id="3" name="Problem card 1"/>
          <p:cNvSpPr/>
          <p:nvPr/>
        </p:nvSpPr>
        <p:spPr>
          <a:xfrm>
            <a:off x="457200" y="1691640"/>
            <a:ext cx="2560320" cy="1874520"/>
          </a:xfrm>
          <a:prstGeom prst="roundRect">
            <a:avLst>
              <a:gd name="adj" fmla="val 4878"/>
            </a:avLst>
          </a:prstGeom>
          <a:solidFill>
            <a:schemeClr val="bg2"/>
          </a:solidFill>
          <a:ln/>
        </p:spPr>
      </p:sp>
      <p:sp>
        <p:nvSpPr>
          <p:cNvPr id="4" name="Unfamiliar basics icon bg"/>
          <p:cNvSpPr/>
          <p:nvPr/>
        </p:nvSpPr>
        <p:spPr>
          <a:xfrm>
            <a:off x="685800" y="1874520"/>
            <a:ext cx="502920" cy="502920"/>
          </a:xfrm>
          <a:prstGeom prst="ellipse">
            <a:avLst/>
          </a:prstGeom>
          <a:solidFill>
            <a:schemeClr val="accent3"/>
          </a:solidFill>
          <a:ln/>
        </p:spPr>
      </p:sp>
      <p:pic>
        <p:nvPicPr>
          <p:cNvPr id="5" name="Image 0" descr="Unfamiliar basics">    </p:cNvPr>
          <p:cNvPicPr>
            <a:picLocks noChangeAspect="1"/>
          </p:cNvPicPr>
          <p:nvPr/>
        </p:nvPicPr>
        <p:blipFill>
          <a:blip r:embed="rId1"/>
          <a:stretch>
            <a:fillRect/>
          </a:stretch>
        </p:blipFill>
        <p:spPr>
          <a:xfrm>
            <a:off x="821588" y="2010308"/>
            <a:ext cx="231343" cy="231343"/>
          </a:xfrm>
          <a:prstGeom prst="rect">
            <a:avLst/>
          </a:prstGeom>
        </p:spPr>
      </p:pic>
      <p:sp>
        <p:nvSpPr>
          <p:cNvPr id="6" name="Text 3"/>
          <p:cNvSpPr txBox="1"/>
          <p:nvPr/>
        </p:nvSpPr>
        <p:spPr>
          <a:xfrm>
            <a:off x="1325880" y="1874520"/>
            <a:ext cx="1554480" cy="502920"/>
          </a:xfrm>
          <a:prstGeom prst="rect">
            <a:avLst/>
          </a:prstGeom>
          <a:noFill/>
          <a:ln/>
        </p:spPr>
        <p:txBody>
          <a:bodyPr wrap="square" lIns="0" tIns="0" rIns="0" bIns="0" rtlCol="0" anchor="ctr"/>
          <a:lstStyle/>
          <a:p>
            <a:pPr indent="0" marL="0">
              <a:buNone/>
            </a:pPr>
            <a:r>
              <a:rPr lang="en-US" sz="1600" b="1" dirty="0">
                <a:solidFill>
                  <a:schemeClr val="tx1"/>
                </a:solidFill>
              </a:rPr>
              <a:t>Unfamiliar basics</a:t>
            </a:r>
            <a:endParaRPr lang="en-US" sz="1600" dirty="0"/>
          </a:p>
        </p:txBody>
      </p:sp>
      <p:sp>
        <p:nvSpPr>
          <p:cNvPr id="7" name="Text 4"/>
          <p:cNvSpPr txBox="1"/>
          <p:nvPr/>
        </p:nvSpPr>
        <p:spPr>
          <a:xfrm>
            <a:off x="685800" y="2532888"/>
            <a:ext cx="2103120" cy="914400"/>
          </a:xfrm>
          <a:prstGeom prst="rect">
            <a:avLst/>
          </a:prstGeom>
          <a:noFill/>
          <a:ln/>
        </p:spPr>
        <p:txBody>
          <a:bodyPr wrap="square" lIns="0" tIns="0" rIns="0" bIns="0" rtlCol="0" anchor="t"/>
          <a:lstStyle/>
          <a:p>
            <a:pPr indent="0" marL="0">
              <a:buNone/>
            </a:pPr>
            <a:r>
              <a:rPr lang="en-US" sz="1400" dirty="0">
                <a:solidFill>
                  <a:schemeClr val="accent5"/>
                </a:solidFill>
              </a:rPr>
              <a:t>Wallets, transactions, and gas fees are unfamiliar.</a:t>
            </a:r>
            <a:endParaRPr lang="en-US" sz="1400" dirty="0"/>
          </a:p>
        </p:txBody>
      </p:sp>
      <p:sp>
        <p:nvSpPr>
          <p:cNvPr id="8" name="Problem card 2"/>
          <p:cNvSpPr/>
          <p:nvPr/>
        </p:nvSpPr>
        <p:spPr>
          <a:xfrm>
            <a:off x="3291840" y="1691640"/>
            <a:ext cx="2560320" cy="1874520"/>
          </a:xfrm>
          <a:prstGeom prst="roundRect">
            <a:avLst>
              <a:gd name="adj" fmla="val 4878"/>
            </a:avLst>
          </a:prstGeom>
          <a:solidFill>
            <a:schemeClr val="bg2"/>
          </a:solidFill>
          <a:ln/>
        </p:spPr>
      </p:sp>
      <p:sp>
        <p:nvSpPr>
          <p:cNvPr id="9" name="No room to practise icon bg"/>
          <p:cNvSpPr/>
          <p:nvPr/>
        </p:nvSpPr>
        <p:spPr>
          <a:xfrm>
            <a:off x="3520440" y="1874520"/>
            <a:ext cx="502920" cy="502920"/>
          </a:xfrm>
          <a:prstGeom prst="ellipse">
            <a:avLst/>
          </a:prstGeom>
          <a:solidFill>
            <a:schemeClr val="accent3"/>
          </a:solidFill>
          <a:ln/>
        </p:spPr>
      </p:sp>
      <p:pic>
        <p:nvPicPr>
          <p:cNvPr id="10" name="Image 1" descr="No room to practise">    </p:cNvPr>
          <p:cNvPicPr>
            <a:picLocks noChangeAspect="1"/>
          </p:cNvPicPr>
          <p:nvPr/>
        </p:nvPicPr>
        <p:blipFill>
          <a:blip r:embed="rId2"/>
          <a:stretch>
            <a:fillRect/>
          </a:stretch>
        </p:blipFill>
        <p:spPr>
          <a:xfrm>
            <a:off x="3656228" y="2010308"/>
            <a:ext cx="231343" cy="231343"/>
          </a:xfrm>
          <a:prstGeom prst="rect">
            <a:avLst/>
          </a:prstGeom>
        </p:spPr>
      </p:pic>
      <p:sp>
        <p:nvSpPr>
          <p:cNvPr id="11" name="Text 7"/>
          <p:cNvSpPr txBox="1"/>
          <p:nvPr/>
        </p:nvSpPr>
        <p:spPr>
          <a:xfrm>
            <a:off x="4160520" y="1874520"/>
            <a:ext cx="1554480" cy="502920"/>
          </a:xfrm>
          <a:prstGeom prst="rect">
            <a:avLst/>
          </a:prstGeom>
          <a:noFill/>
          <a:ln/>
        </p:spPr>
        <p:txBody>
          <a:bodyPr wrap="square" lIns="0" tIns="0" rIns="0" bIns="0" rtlCol="0" anchor="ctr"/>
          <a:lstStyle/>
          <a:p>
            <a:pPr indent="0" marL="0">
              <a:buNone/>
            </a:pPr>
            <a:r>
              <a:rPr lang="en-US" sz="1600" b="1" dirty="0">
                <a:solidFill>
                  <a:schemeClr val="tx1"/>
                </a:solidFill>
              </a:rPr>
              <a:t>No room to practise</a:t>
            </a:r>
            <a:endParaRPr lang="en-US" sz="1600" dirty="0"/>
          </a:p>
        </p:txBody>
      </p:sp>
      <p:sp>
        <p:nvSpPr>
          <p:cNvPr id="12" name="Text 8"/>
          <p:cNvSpPr txBox="1"/>
          <p:nvPr/>
        </p:nvSpPr>
        <p:spPr>
          <a:xfrm>
            <a:off x="3520440" y="2532888"/>
            <a:ext cx="2103120" cy="914400"/>
          </a:xfrm>
          <a:prstGeom prst="rect">
            <a:avLst/>
          </a:prstGeom>
          <a:noFill/>
          <a:ln/>
        </p:spPr>
        <p:txBody>
          <a:bodyPr wrap="square" lIns="0" tIns="0" rIns="0" bIns="0" rtlCol="0" anchor="t"/>
          <a:lstStyle/>
          <a:p>
            <a:pPr indent="0" marL="0">
              <a:buNone/>
            </a:pPr>
            <a:r>
              <a:rPr lang="en-US" sz="1400" dirty="0">
                <a:solidFill>
                  <a:schemeClr val="accent5"/>
                </a:solidFill>
              </a:rPr>
              <a:t>They lack practical opportunities to learn how to earn, spend, and save using crypto.</a:t>
            </a:r>
            <a:endParaRPr lang="en-US" sz="1400" dirty="0"/>
          </a:p>
        </p:txBody>
      </p:sp>
      <p:sp>
        <p:nvSpPr>
          <p:cNvPr id="13" name="Problem card 3"/>
          <p:cNvSpPr/>
          <p:nvPr/>
        </p:nvSpPr>
        <p:spPr>
          <a:xfrm>
            <a:off x="6126480" y="1691640"/>
            <a:ext cx="2560320" cy="1874520"/>
          </a:xfrm>
          <a:prstGeom prst="roundRect">
            <a:avLst>
              <a:gd name="adj" fmla="val 4878"/>
            </a:avLst>
          </a:prstGeom>
          <a:solidFill>
            <a:schemeClr val="bg2"/>
          </a:solidFill>
          <a:ln/>
        </p:spPr>
      </p:sp>
      <p:sp>
        <p:nvSpPr>
          <p:cNvPr id="14" name="Parents need tools icon bg"/>
          <p:cNvSpPr/>
          <p:nvPr/>
        </p:nvSpPr>
        <p:spPr>
          <a:xfrm>
            <a:off x="6355080" y="1874520"/>
            <a:ext cx="502920" cy="502920"/>
          </a:xfrm>
          <a:prstGeom prst="ellipse">
            <a:avLst/>
          </a:prstGeom>
          <a:solidFill>
            <a:schemeClr val="accent3"/>
          </a:solidFill>
          <a:ln/>
        </p:spPr>
      </p:sp>
      <p:pic>
        <p:nvPicPr>
          <p:cNvPr id="15" name="Image 2" descr="Parents need tools">    </p:cNvPr>
          <p:cNvPicPr>
            <a:picLocks noChangeAspect="1"/>
          </p:cNvPicPr>
          <p:nvPr/>
        </p:nvPicPr>
        <p:blipFill>
          <a:blip r:embed="rId3"/>
          <a:stretch>
            <a:fillRect/>
          </a:stretch>
        </p:blipFill>
        <p:spPr>
          <a:xfrm>
            <a:off x="6490868" y="2010308"/>
            <a:ext cx="231343" cy="231343"/>
          </a:xfrm>
          <a:prstGeom prst="rect">
            <a:avLst/>
          </a:prstGeom>
        </p:spPr>
      </p:pic>
      <p:sp>
        <p:nvSpPr>
          <p:cNvPr id="16" name="Text 11"/>
          <p:cNvSpPr txBox="1"/>
          <p:nvPr/>
        </p:nvSpPr>
        <p:spPr>
          <a:xfrm>
            <a:off x="6995160" y="1874520"/>
            <a:ext cx="1554480" cy="502920"/>
          </a:xfrm>
          <a:prstGeom prst="rect">
            <a:avLst/>
          </a:prstGeom>
          <a:noFill/>
          <a:ln/>
        </p:spPr>
        <p:txBody>
          <a:bodyPr wrap="square" lIns="0" tIns="0" rIns="0" bIns="0" rtlCol="0" anchor="ctr"/>
          <a:lstStyle/>
          <a:p>
            <a:pPr indent="0" marL="0">
              <a:buNone/>
            </a:pPr>
            <a:r>
              <a:rPr lang="en-US" sz="1600" b="1" dirty="0">
                <a:solidFill>
                  <a:schemeClr val="tx1"/>
                </a:solidFill>
              </a:rPr>
              <a:t>Parents need tools</a:t>
            </a:r>
            <a:endParaRPr lang="en-US" sz="1600" dirty="0"/>
          </a:p>
        </p:txBody>
      </p:sp>
      <p:sp>
        <p:nvSpPr>
          <p:cNvPr id="17" name="Text 12"/>
          <p:cNvSpPr txBox="1"/>
          <p:nvPr/>
        </p:nvSpPr>
        <p:spPr>
          <a:xfrm>
            <a:off x="6355080" y="2532888"/>
            <a:ext cx="2103120" cy="914400"/>
          </a:xfrm>
          <a:prstGeom prst="rect">
            <a:avLst/>
          </a:prstGeom>
          <a:noFill/>
          <a:ln/>
        </p:spPr>
        <p:txBody>
          <a:bodyPr wrap="square" lIns="0" tIns="0" rIns="0" bIns="0" rtlCol="0" anchor="t"/>
          <a:lstStyle/>
          <a:p>
            <a:pPr indent="0" marL="0">
              <a:buNone/>
            </a:pPr>
            <a:r>
              <a:rPr lang="en-US" sz="1400" dirty="0">
                <a:solidFill>
                  <a:schemeClr val="accent5"/>
                </a:solidFill>
              </a:rPr>
              <a:t>Parents need simple tools to guide them and set spending boundaries.</a:t>
            </a:r>
            <a:endParaRPr lang="en-US" sz="1400" dirty="0"/>
          </a:p>
        </p:txBody>
      </p:sp>
      <p:sp>
        <p:nvSpPr>
          <p:cNvPr id="18" name="Gap banner"/>
          <p:cNvSpPr/>
          <p:nvPr/>
        </p:nvSpPr>
        <p:spPr>
          <a:xfrm>
            <a:off x="457200" y="3749040"/>
            <a:ext cx="8229600" cy="868680"/>
          </a:xfrm>
          <a:prstGeom prst="roundRect">
            <a:avLst>
              <a:gd name="adj" fmla="val 10526"/>
            </a:avLst>
          </a:prstGeom>
          <a:solidFill>
            <a:schemeClr val="tx1"/>
          </a:solidFill>
          <a:ln/>
        </p:spPr>
      </p:sp>
      <p:sp>
        <p:nvSpPr>
          <p:cNvPr id="19" name="Text 14"/>
          <p:cNvSpPr txBox="1"/>
          <p:nvPr/>
        </p:nvSpPr>
        <p:spPr>
          <a:xfrm>
            <a:off x="731520" y="3749040"/>
            <a:ext cx="7680960" cy="868680"/>
          </a:xfrm>
          <a:prstGeom prst="rect">
            <a:avLst/>
          </a:prstGeom>
          <a:noFill/>
          <a:ln/>
        </p:spPr>
        <p:txBody>
          <a:bodyPr wrap="square" lIns="0" tIns="0" rIns="0" bIns="0" rtlCol="0" anchor="ctr"/>
          <a:lstStyle/>
          <a:p>
            <a:pPr indent="0" marL="0">
              <a:buNone/>
            </a:pPr>
            <a:r>
              <a:rPr lang="en-US" sz="1800" b="1" dirty="0">
                <a:solidFill>
                  <a:schemeClr val="accent1"/>
                </a:solidFill>
              </a:rPr>
              <a:t>The gap: </a:t>
            </a:r>
            <a:pPr indent="0" marL="0">
              <a:buNone/>
            </a:pPr>
            <a:r>
              <a:rPr lang="en-US" sz="1800" b="1" dirty="0">
                <a:solidFill>
                  <a:schemeClr val="bg1"/>
                </a:solidFill>
              </a:rPr>
              <a:t>a clear, family-guided path from curiosity to confident crypto use.</a:t>
            </a:r>
            <a:endParaRPr lang="en-US" sz="1800" dirty="0"/>
          </a:p>
          <a:p>
            <a:pPr indent="0" marL="0">
              <a:buNone/>
            </a:pPr>
            <a:r>
              <a:rPr lang="en-US" sz="1400" i="1" dirty="0">
                <a:solidFill>
                  <a:schemeClr val="accent6"/>
                </a:solidFill>
              </a:rPr>
              <a:t>Pocket money today. Crypto confidence tomorrow.</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914400"/>
          </a:xfrm>
          <a:prstGeom prst="rect">
            <a:avLst/>
          </a:prstGeom>
          <a:noFill/>
          <a:ln/>
        </p:spPr>
        <p:txBody>
          <a:bodyPr wrap="square" lIns="0" tIns="0" rIns="0" bIns="0" rtlCol="0" anchor="t"/>
          <a:lstStyle/>
          <a:p>
            <a:pPr algn="l" indent="0" marL="0">
              <a:buNone/>
            </a:pPr>
            <a:r>
              <a:rPr lang="en-US" sz="3600" b="1" dirty="0">
                <a:solidFill>
                  <a:schemeClr val="tx1"/>
                </a:solidFill>
              </a:rPr>
              <a:t>Earn it. Use it. Grow it.</a:t>
            </a:r>
            <a:endParaRPr lang="en-US" sz="3600" dirty="0"/>
          </a:p>
        </p:txBody>
      </p:sp>
      <p:sp>
        <p:nvSpPr>
          <p:cNvPr id="3" name="Text 1"/>
          <p:cNvSpPr txBox="1"/>
          <p:nvPr/>
        </p:nvSpPr>
        <p:spPr>
          <a:xfrm>
            <a:off x="457200" y="1005840"/>
            <a:ext cx="8229600" cy="685800"/>
          </a:xfrm>
          <a:prstGeom prst="rect">
            <a:avLst/>
          </a:prstGeom>
          <a:noFill/>
          <a:ln/>
        </p:spPr>
        <p:txBody>
          <a:bodyPr wrap="square" lIns="0" tIns="0" rIns="0" bIns="0" rtlCol="0" anchor="t"/>
          <a:lstStyle/>
          <a:p>
            <a:pPr indent="0" marL="0">
              <a:buNone/>
            </a:pPr>
            <a:r>
              <a:rPr lang="en-US" sz="1800" dirty="0">
                <a:solidFill>
                  <a:schemeClr val="accent5"/>
                </a:solidFill>
              </a:rPr>
              <a:t>Fam-Fi turns allowance into a teen’s first hands-on crypto experience, with family guidance built in.</a:t>
            </a:r>
            <a:endParaRPr lang="en-US" sz="1800" dirty="0"/>
          </a:p>
        </p:txBody>
      </p:sp>
      <p:sp>
        <p:nvSpPr>
          <p:cNvPr id="4" name="Solution card 1"/>
          <p:cNvSpPr/>
          <p:nvPr/>
        </p:nvSpPr>
        <p:spPr>
          <a:xfrm>
            <a:off x="457200" y="1874520"/>
            <a:ext cx="1920240" cy="2697480"/>
          </a:xfrm>
          <a:prstGeom prst="roundRect">
            <a:avLst>
              <a:gd name="adj" fmla="val 4762"/>
            </a:avLst>
          </a:prstGeom>
          <a:solidFill>
            <a:schemeClr val="bg2"/>
          </a:solidFill>
          <a:ln/>
        </p:spPr>
      </p:sp>
      <p:sp>
        <p:nvSpPr>
          <p:cNvPr id="5" name="Earn it icon bg"/>
          <p:cNvSpPr/>
          <p:nvPr/>
        </p:nvSpPr>
        <p:spPr>
          <a:xfrm>
            <a:off x="685800" y="2103120"/>
            <a:ext cx="685800" cy="685800"/>
          </a:xfrm>
          <a:prstGeom prst="ellipse">
            <a:avLst/>
          </a:prstGeom>
          <a:solidFill>
            <a:schemeClr val="accent2"/>
          </a:solidFill>
          <a:ln/>
        </p:spPr>
      </p:sp>
      <p:pic>
        <p:nvPicPr>
          <p:cNvPr id="6" name="Image 0" descr="Earn it">    </p:cNvPr>
          <p:cNvPicPr>
            <a:picLocks noChangeAspect="1"/>
          </p:cNvPicPr>
          <p:nvPr/>
        </p:nvPicPr>
        <p:blipFill>
          <a:blip r:embed="rId1"/>
          <a:stretch>
            <a:fillRect/>
          </a:stretch>
        </p:blipFill>
        <p:spPr>
          <a:xfrm>
            <a:off x="870966" y="2288286"/>
            <a:ext cx="315468" cy="315468"/>
          </a:xfrm>
          <a:prstGeom prst="rect">
            <a:avLst/>
          </a:prstGeom>
        </p:spPr>
      </p:pic>
      <p:sp>
        <p:nvSpPr>
          <p:cNvPr id="7" name="Text 4"/>
          <p:cNvSpPr txBox="1"/>
          <p:nvPr/>
        </p:nvSpPr>
        <p:spPr>
          <a:xfrm>
            <a:off x="1554480" y="2103120"/>
            <a:ext cx="594360" cy="685800"/>
          </a:xfrm>
          <a:prstGeom prst="rect">
            <a:avLst/>
          </a:prstGeom>
          <a:noFill/>
          <a:ln/>
        </p:spPr>
        <p:txBody>
          <a:bodyPr wrap="square" lIns="0" tIns="0" rIns="0" bIns="0" rtlCol="0" anchor="ctr"/>
          <a:lstStyle/>
          <a:p>
            <a:pPr algn="r" indent="0" marL="0">
              <a:buNone/>
            </a:pPr>
            <a:r>
              <a:rPr lang="en-US" sz="2400" b="1" dirty="0">
                <a:solidFill>
                  <a:schemeClr val="accent6"/>
                </a:solidFill>
              </a:rPr>
              <a:t>01</a:t>
            </a:r>
            <a:endParaRPr lang="en-US" sz="2400" dirty="0"/>
          </a:p>
        </p:txBody>
      </p:sp>
      <p:sp>
        <p:nvSpPr>
          <p:cNvPr id="8" name="Text 5"/>
          <p:cNvSpPr txBox="1"/>
          <p:nvPr/>
        </p:nvSpPr>
        <p:spPr>
          <a:xfrm>
            <a:off x="685800" y="292608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Earn it</a:t>
            </a:r>
            <a:endParaRPr lang="en-US" sz="1800" dirty="0"/>
          </a:p>
        </p:txBody>
      </p:sp>
      <p:sp>
        <p:nvSpPr>
          <p:cNvPr id="9" name="Text 6"/>
          <p:cNvSpPr txBox="1"/>
          <p:nvPr/>
        </p:nvSpPr>
        <p:spPr>
          <a:xfrm>
            <a:off x="685800" y="3337560"/>
            <a:ext cx="1554480" cy="1143000"/>
          </a:xfrm>
          <a:prstGeom prst="rect">
            <a:avLst/>
          </a:prstGeom>
          <a:noFill/>
          <a:ln/>
        </p:spPr>
        <p:txBody>
          <a:bodyPr wrap="square" lIns="0" tIns="0" rIns="0" bIns="0" rtlCol="0" anchor="t"/>
          <a:lstStyle/>
          <a:p>
            <a:pPr indent="0" marL="0">
              <a:buNone/>
            </a:pPr>
            <a:r>
              <a:rPr lang="en-US" sz="1400" dirty="0">
                <a:solidFill>
                  <a:schemeClr val="accent5"/>
                </a:solidFill>
              </a:rPr>
              <a:t>Complete parent-funded missions and receive rewards.</a:t>
            </a:r>
            <a:endParaRPr lang="en-US" sz="1400" dirty="0"/>
          </a:p>
        </p:txBody>
      </p:sp>
      <p:sp>
        <p:nvSpPr>
          <p:cNvPr id="10" name="Solution card 2"/>
          <p:cNvSpPr/>
          <p:nvPr/>
        </p:nvSpPr>
        <p:spPr>
          <a:xfrm>
            <a:off x="2560320" y="1874520"/>
            <a:ext cx="1920240" cy="2697480"/>
          </a:xfrm>
          <a:prstGeom prst="roundRect">
            <a:avLst>
              <a:gd name="adj" fmla="val 4762"/>
            </a:avLst>
          </a:prstGeom>
          <a:solidFill>
            <a:schemeClr val="bg2"/>
          </a:solidFill>
          <a:ln/>
        </p:spPr>
      </p:sp>
      <p:sp>
        <p:nvSpPr>
          <p:cNvPr id="11" name="Use it icon bg"/>
          <p:cNvSpPr/>
          <p:nvPr/>
        </p:nvSpPr>
        <p:spPr>
          <a:xfrm>
            <a:off x="2788920" y="2103120"/>
            <a:ext cx="685800" cy="685800"/>
          </a:xfrm>
          <a:prstGeom prst="ellipse">
            <a:avLst/>
          </a:prstGeom>
          <a:solidFill>
            <a:schemeClr val="accent2"/>
          </a:solidFill>
          <a:ln/>
        </p:spPr>
      </p:sp>
      <p:pic>
        <p:nvPicPr>
          <p:cNvPr id="12" name="Image 1" descr="Use it">    </p:cNvPr>
          <p:cNvPicPr>
            <a:picLocks noChangeAspect="1"/>
          </p:cNvPicPr>
          <p:nvPr/>
        </p:nvPicPr>
        <p:blipFill>
          <a:blip r:embed="rId2"/>
          <a:stretch>
            <a:fillRect/>
          </a:stretch>
        </p:blipFill>
        <p:spPr>
          <a:xfrm>
            <a:off x="2974086" y="2288286"/>
            <a:ext cx="315468" cy="315468"/>
          </a:xfrm>
          <a:prstGeom prst="rect">
            <a:avLst/>
          </a:prstGeom>
        </p:spPr>
      </p:pic>
      <p:sp>
        <p:nvSpPr>
          <p:cNvPr id="13" name="Text 9"/>
          <p:cNvSpPr txBox="1"/>
          <p:nvPr/>
        </p:nvSpPr>
        <p:spPr>
          <a:xfrm>
            <a:off x="3657600" y="2103120"/>
            <a:ext cx="594360" cy="685800"/>
          </a:xfrm>
          <a:prstGeom prst="rect">
            <a:avLst/>
          </a:prstGeom>
          <a:noFill/>
          <a:ln/>
        </p:spPr>
        <p:txBody>
          <a:bodyPr wrap="square" lIns="0" tIns="0" rIns="0" bIns="0" rtlCol="0" anchor="ctr"/>
          <a:lstStyle/>
          <a:p>
            <a:pPr algn="r" indent="0" marL="0">
              <a:buNone/>
            </a:pPr>
            <a:r>
              <a:rPr lang="en-US" sz="2400" b="1" dirty="0">
                <a:solidFill>
                  <a:schemeClr val="accent6"/>
                </a:solidFill>
              </a:rPr>
              <a:t>02</a:t>
            </a:r>
            <a:endParaRPr lang="en-US" sz="2400" dirty="0"/>
          </a:p>
        </p:txBody>
      </p:sp>
      <p:sp>
        <p:nvSpPr>
          <p:cNvPr id="14" name="Text 10"/>
          <p:cNvSpPr txBox="1"/>
          <p:nvPr/>
        </p:nvSpPr>
        <p:spPr>
          <a:xfrm>
            <a:off x="2788920" y="292608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Use it</a:t>
            </a:r>
            <a:endParaRPr lang="en-US" sz="1800" dirty="0"/>
          </a:p>
        </p:txBody>
      </p:sp>
      <p:sp>
        <p:nvSpPr>
          <p:cNvPr id="15" name="Text 11"/>
          <p:cNvSpPr txBox="1"/>
          <p:nvPr/>
        </p:nvSpPr>
        <p:spPr>
          <a:xfrm>
            <a:off x="2788920" y="3337560"/>
            <a:ext cx="1554480" cy="1143000"/>
          </a:xfrm>
          <a:prstGeom prst="rect">
            <a:avLst/>
          </a:prstGeom>
          <a:noFill/>
          <a:ln/>
        </p:spPr>
        <p:txBody>
          <a:bodyPr wrap="square" lIns="0" tIns="0" rIns="0" bIns="0" rtlCol="0" anchor="t"/>
          <a:lstStyle/>
          <a:p>
            <a:pPr indent="0" marL="0">
              <a:buNone/>
            </a:pPr>
            <a:r>
              <a:rPr lang="en-US" sz="1400" dirty="0">
                <a:solidFill>
                  <a:schemeClr val="accent5"/>
                </a:solidFill>
              </a:rPr>
              <a:t>Pay friends and split expenses within parent-set limits.</a:t>
            </a:r>
            <a:endParaRPr lang="en-US" sz="1400" dirty="0"/>
          </a:p>
        </p:txBody>
      </p:sp>
      <p:sp>
        <p:nvSpPr>
          <p:cNvPr id="16" name="Solution card 3"/>
          <p:cNvSpPr/>
          <p:nvPr/>
        </p:nvSpPr>
        <p:spPr>
          <a:xfrm>
            <a:off x="4663440" y="1874520"/>
            <a:ext cx="1920240" cy="2697480"/>
          </a:xfrm>
          <a:prstGeom prst="roundRect">
            <a:avLst>
              <a:gd name="adj" fmla="val 4762"/>
            </a:avLst>
          </a:prstGeom>
          <a:solidFill>
            <a:schemeClr val="bg2"/>
          </a:solidFill>
          <a:ln/>
        </p:spPr>
      </p:sp>
      <p:sp>
        <p:nvSpPr>
          <p:cNvPr id="17" name="Grow it icon bg"/>
          <p:cNvSpPr/>
          <p:nvPr/>
        </p:nvSpPr>
        <p:spPr>
          <a:xfrm>
            <a:off x="4892040" y="2103120"/>
            <a:ext cx="685800" cy="685800"/>
          </a:xfrm>
          <a:prstGeom prst="ellipse">
            <a:avLst/>
          </a:prstGeom>
          <a:solidFill>
            <a:schemeClr val="accent2"/>
          </a:solidFill>
          <a:ln/>
        </p:spPr>
      </p:sp>
      <p:pic>
        <p:nvPicPr>
          <p:cNvPr id="18" name="Image 2" descr="Grow it">    </p:cNvPr>
          <p:cNvPicPr>
            <a:picLocks noChangeAspect="1"/>
          </p:cNvPicPr>
          <p:nvPr/>
        </p:nvPicPr>
        <p:blipFill>
          <a:blip r:embed="rId3"/>
          <a:stretch>
            <a:fillRect/>
          </a:stretch>
        </p:blipFill>
        <p:spPr>
          <a:xfrm>
            <a:off x="5077206" y="2288286"/>
            <a:ext cx="315468" cy="315468"/>
          </a:xfrm>
          <a:prstGeom prst="rect">
            <a:avLst/>
          </a:prstGeom>
        </p:spPr>
      </p:pic>
      <p:sp>
        <p:nvSpPr>
          <p:cNvPr id="19" name="Text 14"/>
          <p:cNvSpPr txBox="1"/>
          <p:nvPr/>
        </p:nvSpPr>
        <p:spPr>
          <a:xfrm>
            <a:off x="5760720" y="2103120"/>
            <a:ext cx="594360" cy="685800"/>
          </a:xfrm>
          <a:prstGeom prst="rect">
            <a:avLst/>
          </a:prstGeom>
          <a:noFill/>
          <a:ln/>
        </p:spPr>
        <p:txBody>
          <a:bodyPr wrap="square" lIns="0" tIns="0" rIns="0" bIns="0" rtlCol="0" anchor="ctr"/>
          <a:lstStyle/>
          <a:p>
            <a:pPr algn="r" indent="0" marL="0">
              <a:buNone/>
            </a:pPr>
            <a:r>
              <a:rPr lang="en-US" sz="2400" b="1" dirty="0">
                <a:solidFill>
                  <a:schemeClr val="accent6"/>
                </a:solidFill>
              </a:rPr>
              <a:t>03</a:t>
            </a:r>
            <a:endParaRPr lang="en-US" sz="2400" dirty="0"/>
          </a:p>
        </p:txBody>
      </p:sp>
      <p:sp>
        <p:nvSpPr>
          <p:cNvPr id="20" name="Text 15"/>
          <p:cNvSpPr txBox="1"/>
          <p:nvPr/>
        </p:nvSpPr>
        <p:spPr>
          <a:xfrm>
            <a:off x="4892040" y="292608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Grow it</a:t>
            </a:r>
            <a:endParaRPr lang="en-US" sz="1800" dirty="0"/>
          </a:p>
        </p:txBody>
      </p:sp>
      <p:sp>
        <p:nvSpPr>
          <p:cNvPr id="21" name="Text 16"/>
          <p:cNvSpPr txBox="1"/>
          <p:nvPr/>
        </p:nvSpPr>
        <p:spPr>
          <a:xfrm>
            <a:off x="4892040" y="3337560"/>
            <a:ext cx="1554480" cy="1143000"/>
          </a:xfrm>
          <a:prstGeom prst="rect">
            <a:avLst/>
          </a:prstGeom>
          <a:noFill/>
          <a:ln/>
        </p:spPr>
        <p:txBody>
          <a:bodyPr wrap="square" lIns="0" tIns="0" rIns="0" bIns="0" rtlCol="0" anchor="t"/>
          <a:lstStyle/>
          <a:p>
            <a:pPr indent="0" marL="0">
              <a:buNone/>
            </a:pPr>
            <a:r>
              <a:rPr lang="en-US" sz="1400" dirty="0">
                <a:solidFill>
                  <a:schemeClr val="accent5"/>
                </a:solidFill>
              </a:rPr>
              <a:t>Save toward goals, with relatives matching contributions.</a:t>
            </a:r>
            <a:endParaRPr lang="en-US" sz="1400" dirty="0"/>
          </a:p>
        </p:txBody>
      </p:sp>
      <p:sp>
        <p:nvSpPr>
          <p:cNvPr id="22" name="Solution card 4"/>
          <p:cNvSpPr/>
          <p:nvPr/>
        </p:nvSpPr>
        <p:spPr>
          <a:xfrm>
            <a:off x="6766560" y="1874520"/>
            <a:ext cx="1920240" cy="2697480"/>
          </a:xfrm>
          <a:prstGeom prst="roundRect">
            <a:avLst>
              <a:gd name="adj" fmla="val 4762"/>
            </a:avLst>
          </a:prstGeom>
          <a:solidFill>
            <a:schemeClr val="tx1"/>
          </a:solidFill>
          <a:ln/>
        </p:spPr>
      </p:sp>
      <p:sp>
        <p:nvSpPr>
          <p:cNvPr id="23" name="See progress icon bg"/>
          <p:cNvSpPr/>
          <p:nvPr/>
        </p:nvSpPr>
        <p:spPr>
          <a:xfrm>
            <a:off x="6995160" y="2103120"/>
            <a:ext cx="685800" cy="685800"/>
          </a:xfrm>
          <a:prstGeom prst="ellipse">
            <a:avLst/>
          </a:prstGeom>
          <a:solidFill>
            <a:schemeClr val="accent1"/>
          </a:solidFill>
          <a:ln/>
        </p:spPr>
      </p:sp>
      <p:pic>
        <p:nvPicPr>
          <p:cNvPr id="24" name="Image 3" descr="See progress">    </p:cNvPr>
          <p:cNvPicPr>
            <a:picLocks noChangeAspect="1"/>
          </p:cNvPicPr>
          <p:nvPr/>
        </p:nvPicPr>
        <p:blipFill>
          <a:blip r:embed="rId4"/>
          <a:stretch>
            <a:fillRect/>
          </a:stretch>
        </p:blipFill>
        <p:spPr>
          <a:xfrm>
            <a:off x="7180326" y="2288286"/>
            <a:ext cx="315468" cy="315468"/>
          </a:xfrm>
          <a:prstGeom prst="rect">
            <a:avLst/>
          </a:prstGeom>
        </p:spPr>
      </p:pic>
      <p:sp>
        <p:nvSpPr>
          <p:cNvPr id="25" name="Text 19"/>
          <p:cNvSpPr txBox="1"/>
          <p:nvPr/>
        </p:nvSpPr>
        <p:spPr>
          <a:xfrm>
            <a:off x="7863840" y="2103120"/>
            <a:ext cx="594360" cy="685800"/>
          </a:xfrm>
          <a:prstGeom prst="rect">
            <a:avLst/>
          </a:prstGeom>
          <a:noFill/>
          <a:ln/>
        </p:spPr>
        <p:txBody>
          <a:bodyPr wrap="square" lIns="0" tIns="0" rIns="0" bIns="0" rtlCol="0" anchor="ctr"/>
          <a:lstStyle/>
          <a:p>
            <a:pPr algn="r" indent="0" marL="0">
              <a:buNone/>
            </a:pPr>
            <a:r>
              <a:rPr lang="en-US" sz="2400" b="1" dirty="0">
                <a:solidFill>
                  <a:schemeClr val="accent6"/>
                </a:solidFill>
              </a:rPr>
              <a:t>04</a:t>
            </a:r>
            <a:endParaRPr lang="en-US" sz="2400" dirty="0"/>
          </a:p>
        </p:txBody>
      </p:sp>
      <p:sp>
        <p:nvSpPr>
          <p:cNvPr id="26" name="Text 20"/>
          <p:cNvSpPr txBox="1"/>
          <p:nvPr/>
        </p:nvSpPr>
        <p:spPr>
          <a:xfrm>
            <a:off x="6995160" y="2926080"/>
            <a:ext cx="1554480" cy="365760"/>
          </a:xfrm>
          <a:prstGeom prst="rect">
            <a:avLst/>
          </a:prstGeom>
          <a:noFill/>
          <a:ln/>
        </p:spPr>
        <p:txBody>
          <a:bodyPr wrap="square" lIns="0" tIns="0" rIns="0" bIns="0" rtlCol="0" anchor="ctr"/>
          <a:lstStyle/>
          <a:p>
            <a:pPr indent="0" marL="0">
              <a:buNone/>
            </a:pPr>
            <a:r>
              <a:rPr lang="en-US" sz="1800" b="1" dirty="0">
                <a:solidFill>
                  <a:schemeClr val="bg1"/>
                </a:solidFill>
              </a:rPr>
              <a:t>See progress</a:t>
            </a:r>
            <a:endParaRPr lang="en-US" sz="1800" dirty="0"/>
          </a:p>
        </p:txBody>
      </p:sp>
      <p:sp>
        <p:nvSpPr>
          <p:cNvPr id="27" name="Text 21"/>
          <p:cNvSpPr txBox="1"/>
          <p:nvPr/>
        </p:nvSpPr>
        <p:spPr>
          <a:xfrm>
            <a:off x="6995160" y="3337560"/>
            <a:ext cx="1554480" cy="1143000"/>
          </a:xfrm>
          <a:prstGeom prst="rect">
            <a:avLst/>
          </a:prstGeom>
          <a:noFill/>
          <a:ln/>
        </p:spPr>
        <p:txBody>
          <a:bodyPr wrap="square" lIns="0" tIns="0" rIns="0" bIns="0" rtlCol="0" anchor="t"/>
          <a:lstStyle/>
          <a:p>
            <a:pPr indent="0" marL="0">
              <a:buNone/>
            </a:pPr>
            <a:r>
              <a:rPr lang="en-US" sz="1400" dirty="0">
                <a:solidFill>
                  <a:schemeClr val="accent6"/>
                </a:solidFill>
              </a:rPr>
              <a:t>A Progress Passport turns confirmed activity into visible achievements.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914400"/>
          </a:xfrm>
          <a:prstGeom prst="rect">
            <a:avLst/>
          </a:prstGeom>
          <a:noFill/>
          <a:ln/>
        </p:spPr>
        <p:txBody>
          <a:bodyPr wrap="square" lIns="0" tIns="0" rIns="0" bIns="0" rtlCol="0" anchor="t"/>
          <a:lstStyle/>
          <a:p>
            <a:pPr algn="l" indent="0" marL="0">
              <a:buNone/>
            </a:pPr>
            <a:r>
              <a:rPr lang="en-US" sz="3600" b="1" dirty="0">
                <a:solidFill>
                  <a:schemeClr val="tx1"/>
                </a:solidFill>
              </a:rPr>
              <a:t>How Fam-Fi works</a:t>
            </a:r>
            <a:endParaRPr lang="en-US" sz="3600" dirty="0"/>
          </a:p>
        </p:txBody>
      </p:sp>
      <p:sp>
        <p:nvSpPr>
          <p:cNvPr id="3" name="Pill Familiar login"/>
          <p:cNvSpPr/>
          <p:nvPr/>
        </p:nvSpPr>
        <p:spPr>
          <a:xfrm>
            <a:off x="457200" y="1051560"/>
            <a:ext cx="1691640" cy="457200"/>
          </a:xfrm>
          <a:prstGeom prst="roundRect">
            <a:avLst>
              <a:gd name="adj" fmla="val 50000"/>
            </a:avLst>
          </a:prstGeom>
          <a:solidFill>
            <a:schemeClr val="accent2"/>
          </a:solidFill>
          <a:ln/>
        </p:spPr>
      </p:sp>
      <p:sp>
        <p:nvSpPr>
          <p:cNvPr id="4" name="Text 2"/>
          <p:cNvSpPr txBox="1"/>
          <p:nvPr/>
        </p:nvSpPr>
        <p:spPr>
          <a:xfrm>
            <a:off x="457200" y="1051560"/>
            <a:ext cx="1691640" cy="457200"/>
          </a:xfrm>
          <a:prstGeom prst="rect">
            <a:avLst/>
          </a:prstGeom>
          <a:noFill/>
          <a:ln/>
        </p:spPr>
        <p:txBody>
          <a:bodyPr wrap="square" lIns="0" tIns="0" rIns="0" bIns="0" rtlCol="0" anchor="ctr"/>
          <a:lstStyle/>
          <a:p>
            <a:pPr algn="ctr" indent="0" marL="0">
              <a:buNone/>
            </a:pPr>
            <a:r>
              <a:rPr lang="en-US" sz="1400" b="1" dirty="0">
                <a:solidFill>
                  <a:schemeClr val="bg1"/>
                </a:solidFill>
              </a:rPr>
              <a:t>Familiar login</a:t>
            </a:r>
            <a:endParaRPr lang="en-US" sz="1400" dirty="0"/>
          </a:p>
        </p:txBody>
      </p:sp>
      <p:sp>
        <p:nvSpPr>
          <p:cNvPr id="5" name="Pill Readable Fam-IDs"/>
          <p:cNvSpPr/>
          <p:nvPr/>
        </p:nvSpPr>
        <p:spPr>
          <a:xfrm>
            <a:off x="2240280" y="1051560"/>
            <a:ext cx="1920240" cy="457200"/>
          </a:xfrm>
          <a:prstGeom prst="roundRect">
            <a:avLst>
              <a:gd name="adj" fmla="val 50000"/>
            </a:avLst>
          </a:prstGeom>
          <a:solidFill>
            <a:schemeClr val="accent2"/>
          </a:solidFill>
          <a:ln/>
        </p:spPr>
      </p:sp>
      <p:sp>
        <p:nvSpPr>
          <p:cNvPr id="6" name="Text 4"/>
          <p:cNvSpPr txBox="1"/>
          <p:nvPr/>
        </p:nvSpPr>
        <p:spPr>
          <a:xfrm>
            <a:off x="2240280" y="1051560"/>
            <a:ext cx="1920240" cy="457200"/>
          </a:xfrm>
          <a:prstGeom prst="rect">
            <a:avLst/>
          </a:prstGeom>
          <a:noFill/>
          <a:ln/>
        </p:spPr>
        <p:txBody>
          <a:bodyPr wrap="square" lIns="0" tIns="0" rIns="0" bIns="0" rtlCol="0" anchor="ctr"/>
          <a:lstStyle/>
          <a:p>
            <a:pPr algn="ctr" indent="0" marL="0">
              <a:buNone/>
            </a:pPr>
            <a:r>
              <a:rPr lang="en-US" sz="1400" b="1" dirty="0">
                <a:solidFill>
                  <a:schemeClr val="bg1"/>
                </a:solidFill>
              </a:rPr>
              <a:t>Readable Fam-IDs</a:t>
            </a:r>
            <a:endParaRPr lang="en-US" sz="1400" dirty="0"/>
          </a:p>
        </p:txBody>
      </p:sp>
      <p:sp>
        <p:nvSpPr>
          <p:cNvPr id="7" name="Pill Sponsored gas"/>
          <p:cNvSpPr/>
          <p:nvPr/>
        </p:nvSpPr>
        <p:spPr>
          <a:xfrm>
            <a:off x="4251960" y="1051560"/>
            <a:ext cx="1691640" cy="457200"/>
          </a:xfrm>
          <a:prstGeom prst="roundRect">
            <a:avLst>
              <a:gd name="adj" fmla="val 50000"/>
            </a:avLst>
          </a:prstGeom>
          <a:solidFill>
            <a:schemeClr val="accent2"/>
          </a:solidFill>
          <a:ln/>
        </p:spPr>
      </p:sp>
      <p:sp>
        <p:nvSpPr>
          <p:cNvPr id="8" name="Text 6"/>
          <p:cNvSpPr txBox="1"/>
          <p:nvPr/>
        </p:nvSpPr>
        <p:spPr>
          <a:xfrm>
            <a:off x="4251960" y="1051560"/>
            <a:ext cx="1691640" cy="457200"/>
          </a:xfrm>
          <a:prstGeom prst="rect">
            <a:avLst/>
          </a:prstGeom>
          <a:noFill/>
          <a:ln/>
        </p:spPr>
        <p:txBody>
          <a:bodyPr wrap="square" lIns="0" tIns="0" rIns="0" bIns="0" rtlCol="0" anchor="ctr"/>
          <a:lstStyle/>
          <a:p>
            <a:pPr algn="ctr" indent="0" marL="0">
              <a:buNone/>
            </a:pPr>
            <a:r>
              <a:rPr lang="en-US" sz="1400" b="1" dirty="0">
                <a:solidFill>
                  <a:schemeClr val="bg1"/>
                </a:solidFill>
              </a:rPr>
              <a:t>Sponsored gas</a:t>
            </a:r>
            <a:endParaRPr lang="en-US" sz="1400" dirty="0"/>
          </a:p>
        </p:txBody>
      </p:sp>
      <p:sp>
        <p:nvSpPr>
          <p:cNvPr id="9" name="Pill A real reason to use crypto"/>
          <p:cNvSpPr/>
          <p:nvPr/>
        </p:nvSpPr>
        <p:spPr>
          <a:xfrm>
            <a:off x="6035040" y="1051560"/>
            <a:ext cx="2651760" cy="457200"/>
          </a:xfrm>
          <a:prstGeom prst="roundRect">
            <a:avLst>
              <a:gd name="adj" fmla="val 50000"/>
            </a:avLst>
          </a:prstGeom>
          <a:solidFill>
            <a:schemeClr val="accent1"/>
          </a:solidFill>
          <a:ln/>
        </p:spPr>
      </p:sp>
      <p:sp>
        <p:nvSpPr>
          <p:cNvPr id="10" name="Text 8"/>
          <p:cNvSpPr txBox="1"/>
          <p:nvPr/>
        </p:nvSpPr>
        <p:spPr>
          <a:xfrm>
            <a:off x="6035040" y="1051560"/>
            <a:ext cx="2651760" cy="457200"/>
          </a:xfrm>
          <a:prstGeom prst="rect">
            <a:avLst/>
          </a:prstGeom>
          <a:noFill/>
          <a:ln/>
        </p:spPr>
        <p:txBody>
          <a:bodyPr wrap="square" lIns="0" tIns="0" rIns="0" bIns="0" rtlCol="0" anchor="ctr"/>
          <a:lstStyle/>
          <a:p>
            <a:pPr algn="ctr" indent="0" marL="0">
              <a:buNone/>
            </a:pPr>
            <a:r>
              <a:rPr lang="en-US" sz="1400" b="1" dirty="0">
                <a:solidFill>
                  <a:schemeClr val="tx1"/>
                </a:solidFill>
              </a:rPr>
              <a:t>A real reason to use crypto</a:t>
            </a:r>
            <a:endParaRPr lang="en-US" sz="1400" dirty="0"/>
          </a:p>
        </p:txBody>
      </p:sp>
      <p:sp>
        <p:nvSpPr>
          <p:cNvPr id="11" name="Step connector 1"/>
          <p:cNvSpPr/>
          <p:nvPr/>
        </p:nvSpPr>
        <p:spPr>
          <a:xfrm>
            <a:off x="1051560" y="2103120"/>
            <a:ext cx="1074420" cy="0"/>
          </a:xfrm>
          <a:prstGeom prst="line">
            <a:avLst/>
          </a:prstGeom>
          <a:noFill/>
          <a:ln w="25400">
            <a:solidFill>
              <a:schemeClr val="accent6"/>
            </a:solidFill>
            <a:prstDash val="solid"/>
          </a:ln>
        </p:spPr>
      </p:sp>
      <p:sp>
        <p:nvSpPr>
          <p:cNvPr id="12" name="Step number bg 1"/>
          <p:cNvSpPr/>
          <p:nvPr/>
        </p:nvSpPr>
        <p:spPr>
          <a:xfrm>
            <a:off x="457200" y="1828800"/>
            <a:ext cx="548640" cy="548640"/>
          </a:xfrm>
          <a:prstGeom prst="ellipse">
            <a:avLst/>
          </a:prstGeom>
          <a:solidFill>
            <a:schemeClr val="accent2"/>
          </a:solidFill>
          <a:ln/>
        </p:spPr>
      </p:sp>
      <p:sp>
        <p:nvSpPr>
          <p:cNvPr id="13" name="Text 11"/>
          <p:cNvSpPr txBox="1"/>
          <p:nvPr/>
        </p:nvSpPr>
        <p:spPr>
          <a:xfrm>
            <a:off x="45720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4" name="Text 12"/>
          <p:cNvSpPr txBox="1"/>
          <p:nvPr/>
        </p:nvSpPr>
        <p:spPr>
          <a:xfrm>
            <a:off x="457200" y="2514600"/>
            <a:ext cx="1554480" cy="1234440"/>
          </a:xfrm>
          <a:prstGeom prst="rect">
            <a:avLst/>
          </a:prstGeom>
          <a:noFill/>
          <a:ln/>
        </p:spPr>
        <p:txBody>
          <a:bodyPr wrap="square" lIns="0" tIns="0" rIns="0" bIns="0" rtlCol="0" anchor="t"/>
          <a:lstStyle/>
          <a:p>
            <a:pPr indent="0" marL="0">
              <a:buNone/>
            </a:pPr>
            <a:r>
              <a:rPr lang="en-US" sz="1400" dirty="0">
                <a:solidFill>
                  <a:schemeClr val="tx1"/>
                </a:solidFill>
              </a:rPr>
              <a:t>Parent creates a family</a:t>
            </a:r>
            <a:endParaRPr lang="en-US" sz="1400" dirty="0"/>
          </a:p>
        </p:txBody>
      </p:sp>
      <p:sp>
        <p:nvSpPr>
          <p:cNvPr id="15" name="Step connector 2"/>
          <p:cNvSpPr/>
          <p:nvPr/>
        </p:nvSpPr>
        <p:spPr>
          <a:xfrm>
            <a:off x="2720340" y="2103120"/>
            <a:ext cx="1074420" cy="0"/>
          </a:xfrm>
          <a:prstGeom prst="line">
            <a:avLst/>
          </a:prstGeom>
          <a:noFill/>
          <a:ln w="25400">
            <a:solidFill>
              <a:schemeClr val="accent6"/>
            </a:solidFill>
            <a:prstDash val="solid"/>
          </a:ln>
        </p:spPr>
      </p:sp>
      <p:sp>
        <p:nvSpPr>
          <p:cNvPr id="16" name="Step number bg 2"/>
          <p:cNvSpPr/>
          <p:nvPr/>
        </p:nvSpPr>
        <p:spPr>
          <a:xfrm>
            <a:off x="2125980" y="1828800"/>
            <a:ext cx="548640" cy="548640"/>
          </a:xfrm>
          <a:prstGeom prst="ellipse">
            <a:avLst/>
          </a:prstGeom>
          <a:solidFill>
            <a:schemeClr val="accent2"/>
          </a:solidFill>
          <a:ln/>
        </p:spPr>
      </p:sp>
      <p:sp>
        <p:nvSpPr>
          <p:cNvPr id="17" name="Text 15"/>
          <p:cNvSpPr txBox="1"/>
          <p:nvPr/>
        </p:nvSpPr>
        <p:spPr>
          <a:xfrm>
            <a:off x="21259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8" name="Text 16"/>
          <p:cNvSpPr txBox="1"/>
          <p:nvPr/>
        </p:nvSpPr>
        <p:spPr>
          <a:xfrm>
            <a:off x="2125980" y="2514600"/>
            <a:ext cx="1554480" cy="1234440"/>
          </a:xfrm>
          <a:prstGeom prst="rect">
            <a:avLst/>
          </a:prstGeom>
          <a:noFill/>
          <a:ln/>
        </p:spPr>
        <p:txBody>
          <a:bodyPr wrap="square" lIns="0" tIns="0" rIns="0" bIns="0" rtlCol="0" anchor="t"/>
          <a:lstStyle/>
          <a:p>
            <a:pPr indent="0" marL="0">
              <a:buNone/>
            </a:pPr>
            <a:r>
              <a:rPr lang="en-US" sz="1400" dirty="0">
                <a:solidFill>
                  <a:schemeClr val="tx1"/>
                </a:solidFill>
              </a:rPr>
              <a:t>Teen joins</a:t>
            </a:r>
            <a:endParaRPr lang="en-US" sz="1400" dirty="0"/>
          </a:p>
        </p:txBody>
      </p:sp>
      <p:sp>
        <p:nvSpPr>
          <p:cNvPr id="19" name="Step connector 3"/>
          <p:cNvSpPr/>
          <p:nvPr/>
        </p:nvSpPr>
        <p:spPr>
          <a:xfrm>
            <a:off x="4389120" y="2103120"/>
            <a:ext cx="1074420" cy="0"/>
          </a:xfrm>
          <a:prstGeom prst="line">
            <a:avLst/>
          </a:prstGeom>
          <a:noFill/>
          <a:ln w="25400">
            <a:solidFill>
              <a:schemeClr val="accent6"/>
            </a:solidFill>
            <a:prstDash val="solid"/>
          </a:ln>
        </p:spPr>
      </p:sp>
      <p:sp>
        <p:nvSpPr>
          <p:cNvPr id="20" name="Step number bg 3"/>
          <p:cNvSpPr/>
          <p:nvPr/>
        </p:nvSpPr>
        <p:spPr>
          <a:xfrm>
            <a:off x="3794760" y="1828800"/>
            <a:ext cx="548640" cy="548640"/>
          </a:xfrm>
          <a:prstGeom prst="ellipse">
            <a:avLst/>
          </a:prstGeom>
          <a:solidFill>
            <a:schemeClr val="accent2"/>
          </a:solidFill>
          <a:ln/>
        </p:spPr>
      </p:sp>
      <p:sp>
        <p:nvSpPr>
          <p:cNvPr id="21" name="Text 19"/>
          <p:cNvSpPr txBox="1"/>
          <p:nvPr/>
        </p:nvSpPr>
        <p:spPr>
          <a:xfrm>
            <a:off x="379476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20"/>
          <p:cNvSpPr txBox="1"/>
          <p:nvPr/>
        </p:nvSpPr>
        <p:spPr>
          <a:xfrm>
            <a:off x="3794760" y="2514600"/>
            <a:ext cx="1554480" cy="1234440"/>
          </a:xfrm>
          <a:prstGeom prst="rect">
            <a:avLst/>
          </a:prstGeom>
          <a:noFill/>
          <a:ln/>
        </p:spPr>
        <p:txBody>
          <a:bodyPr wrap="square" lIns="0" tIns="0" rIns="0" bIns="0" rtlCol="0" anchor="t"/>
          <a:lstStyle/>
          <a:p>
            <a:pPr indent="0" marL="0">
              <a:buNone/>
            </a:pPr>
            <a:r>
              <a:rPr lang="en-US" sz="1400" dirty="0">
                <a:solidFill>
                  <a:schemeClr val="tx1"/>
                </a:solidFill>
              </a:rPr>
              <a:t>Parent sets allowance and spending rules</a:t>
            </a:r>
            <a:endParaRPr lang="en-US" sz="1400" dirty="0"/>
          </a:p>
        </p:txBody>
      </p:sp>
      <p:sp>
        <p:nvSpPr>
          <p:cNvPr id="23" name="Step connector 4"/>
          <p:cNvSpPr/>
          <p:nvPr/>
        </p:nvSpPr>
        <p:spPr>
          <a:xfrm>
            <a:off x="6057900" y="2103120"/>
            <a:ext cx="1074420" cy="0"/>
          </a:xfrm>
          <a:prstGeom prst="line">
            <a:avLst/>
          </a:prstGeom>
          <a:noFill/>
          <a:ln w="25400">
            <a:solidFill>
              <a:schemeClr val="accent6"/>
            </a:solidFill>
            <a:prstDash val="solid"/>
          </a:ln>
        </p:spPr>
      </p:sp>
      <p:sp>
        <p:nvSpPr>
          <p:cNvPr id="24" name="Step number bg 4"/>
          <p:cNvSpPr/>
          <p:nvPr/>
        </p:nvSpPr>
        <p:spPr>
          <a:xfrm>
            <a:off x="5463540" y="1828800"/>
            <a:ext cx="548640" cy="548640"/>
          </a:xfrm>
          <a:prstGeom prst="ellipse">
            <a:avLst/>
          </a:prstGeom>
          <a:solidFill>
            <a:schemeClr val="accent2"/>
          </a:solidFill>
          <a:ln/>
        </p:spPr>
      </p:sp>
      <p:sp>
        <p:nvSpPr>
          <p:cNvPr id="25" name="Text 23"/>
          <p:cNvSpPr txBox="1"/>
          <p:nvPr/>
        </p:nvSpPr>
        <p:spPr>
          <a:xfrm>
            <a:off x="54635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4"/>
          <p:cNvSpPr txBox="1"/>
          <p:nvPr/>
        </p:nvSpPr>
        <p:spPr>
          <a:xfrm>
            <a:off x="5463540" y="2514600"/>
            <a:ext cx="1554480" cy="1234440"/>
          </a:xfrm>
          <a:prstGeom prst="rect">
            <a:avLst/>
          </a:prstGeom>
          <a:noFill/>
          <a:ln/>
        </p:spPr>
        <p:txBody>
          <a:bodyPr wrap="square" lIns="0" tIns="0" rIns="0" bIns="0" rtlCol="0" anchor="t"/>
          <a:lstStyle/>
          <a:p>
            <a:pPr indent="0" marL="0">
              <a:buNone/>
            </a:pPr>
            <a:r>
              <a:rPr lang="en-US" sz="1400" dirty="0">
                <a:solidFill>
                  <a:schemeClr val="tx1"/>
                </a:solidFill>
              </a:rPr>
              <a:t>Teen earns through missions, pays or requests money, and saves toward goals</a:t>
            </a:r>
            <a:endParaRPr lang="en-US" sz="1400" dirty="0"/>
          </a:p>
        </p:txBody>
      </p:sp>
      <p:sp>
        <p:nvSpPr>
          <p:cNvPr id="27" name="Step number bg 5"/>
          <p:cNvSpPr/>
          <p:nvPr/>
        </p:nvSpPr>
        <p:spPr>
          <a:xfrm>
            <a:off x="7132320" y="1828800"/>
            <a:ext cx="548640" cy="548640"/>
          </a:xfrm>
          <a:prstGeom prst="ellipse">
            <a:avLst/>
          </a:prstGeom>
          <a:solidFill>
            <a:schemeClr val="accent2"/>
          </a:solidFill>
          <a:ln/>
        </p:spPr>
      </p:sp>
      <p:sp>
        <p:nvSpPr>
          <p:cNvPr id="28" name="Text 26"/>
          <p:cNvSpPr txBox="1"/>
          <p:nvPr/>
        </p:nvSpPr>
        <p:spPr>
          <a:xfrm>
            <a:off x="713232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9" name="Text 27"/>
          <p:cNvSpPr txBox="1"/>
          <p:nvPr/>
        </p:nvSpPr>
        <p:spPr>
          <a:xfrm>
            <a:off x="7132320" y="2514600"/>
            <a:ext cx="1554480" cy="1234440"/>
          </a:xfrm>
          <a:prstGeom prst="rect">
            <a:avLst/>
          </a:prstGeom>
          <a:noFill/>
          <a:ln/>
        </p:spPr>
        <p:txBody>
          <a:bodyPr wrap="square" lIns="0" tIns="0" rIns="0" bIns="0" rtlCol="0" anchor="t"/>
          <a:lstStyle/>
          <a:p>
            <a:pPr indent="0" marL="0">
              <a:buNone/>
            </a:pPr>
            <a:r>
              <a:rPr lang="en-US" sz="1400" dirty="0">
                <a:solidFill>
                  <a:schemeClr val="tx1"/>
                </a:solidFill>
              </a:rPr>
              <a:t>Family sees progress</a:t>
            </a:r>
            <a:endParaRPr lang="en-US" sz="1400" dirty="0"/>
          </a:p>
        </p:txBody>
      </p:sp>
      <p:sp>
        <p:nvSpPr>
          <p:cNvPr id="30" name="Feature chip 1"/>
          <p:cNvSpPr/>
          <p:nvPr/>
        </p:nvSpPr>
        <p:spPr>
          <a:xfrm>
            <a:off x="457200" y="3840480"/>
            <a:ext cx="1920240" cy="731520"/>
          </a:xfrm>
          <a:prstGeom prst="roundRect">
            <a:avLst>
              <a:gd name="adj" fmla="val 12500"/>
            </a:avLst>
          </a:prstGeom>
          <a:solidFill>
            <a:schemeClr val="bg2"/>
          </a:solidFill>
          <a:ln/>
        </p:spPr>
      </p:sp>
      <p:sp>
        <p:nvSpPr>
          <p:cNvPr id="31" name="Matching gifts from relatives icon bg"/>
          <p:cNvSpPr/>
          <p:nvPr/>
        </p:nvSpPr>
        <p:spPr>
          <a:xfrm>
            <a:off x="594360" y="3977640"/>
            <a:ext cx="457200" cy="457200"/>
          </a:xfrm>
          <a:prstGeom prst="ellipse">
            <a:avLst/>
          </a:prstGeom>
          <a:solidFill>
            <a:schemeClr val="accent2"/>
          </a:solidFill>
          <a:ln/>
        </p:spPr>
      </p:sp>
      <p:pic>
        <p:nvPicPr>
          <p:cNvPr id="32" name="Image 0" descr="Matching gifts from relatives">    </p:cNvPr>
          <p:cNvPicPr>
            <a:picLocks noChangeAspect="1"/>
          </p:cNvPicPr>
          <p:nvPr/>
        </p:nvPicPr>
        <p:blipFill>
          <a:blip r:embed="rId1"/>
          <a:stretch>
            <a:fillRect/>
          </a:stretch>
        </p:blipFill>
        <p:spPr>
          <a:xfrm>
            <a:off x="717804" y="4101084"/>
            <a:ext cx="210312" cy="210312"/>
          </a:xfrm>
          <a:prstGeom prst="rect">
            <a:avLst/>
          </a:prstGeom>
        </p:spPr>
      </p:pic>
      <p:sp>
        <p:nvSpPr>
          <p:cNvPr id="33" name="Text 30"/>
          <p:cNvSpPr txBox="1"/>
          <p:nvPr/>
        </p:nvSpPr>
        <p:spPr>
          <a:xfrm>
            <a:off x="1170432" y="3840480"/>
            <a:ext cx="1143000" cy="731520"/>
          </a:xfrm>
          <a:prstGeom prst="rect">
            <a:avLst/>
          </a:prstGeom>
          <a:noFill/>
          <a:ln/>
        </p:spPr>
        <p:txBody>
          <a:bodyPr wrap="square" lIns="0" tIns="0" rIns="0" bIns="0" rtlCol="0" anchor="ctr"/>
          <a:lstStyle/>
          <a:p>
            <a:pPr indent="0" marL="0">
              <a:buNone/>
            </a:pPr>
            <a:r>
              <a:rPr lang="en-US" sz="1400" b="1" dirty="0">
                <a:solidFill>
                  <a:schemeClr val="tx1"/>
                </a:solidFill>
              </a:rPr>
              <a:t>Matching gifts from relatives</a:t>
            </a:r>
            <a:endParaRPr lang="en-US" sz="1400" dirty="0"/>
          </a:p>
        </p:txBody>
      </p:sp>
      <p:sp>
        <p:nvSpPr>
          <p:cNvPr id="34" name="Feature chip 2"/>
          <p:cNvSpPr/>
          <p:nvPr/>
        </p:nvSpPr>
        <p:spPr>
          <a:xfrm>
            <a:off x="2560320" y="3840480"/>
            <a:ext cx="1920240" cy="731520"/>
          </a:xfrm>
          <a:prstGeom prst="roundRect">
            <a:avLst>
              <a:gd name="adj" fmla="val 12500"/>
            </a:avLst>
          </a:prstGeom>
          <a:solidFill>
            <a:schemeClr val="bg2"/>
          </a:solidFill>
          <a:ln/>
        </p:spPr>
      </p:sp>
      <p:sp>
        <p:nvSpPr>
          <p:cNvPr id="35" name="Progress Passport icon bg"/>
          <p:cNvSpPr/>
          <p:nvPr/>
        </p:nvSpPr>
        <p:spPr>
          <a:xfrm>
            <a:off x="2697480" y="3977640"/>
            <a:ext cx="457200" cy="457200"/>
          </a:xfrm>
          <a:prstGeom prst="ellipse">
            <a:avLst/>
          </a:prstGeom>
          <a:solidFill>
            <a:schemeClr val="accent2"/>
          </a:solidFill>
          <a:ln/>
        </p:spPr>
      </p:sp>
      <p:pic>
        <p:nvPicPr>
          <p:cNvPr id="36" name="Image 1" descr="Progress Passport">    </p:cNvPr>
          <p:cNvPicPr>
            <a:picLocks noChangeAspect="1"/>
          </p:cNvPicPr>
          <p:nvPr/>
        </p:nvPicPr>
        <p:blipFill>
          <a:blip r:embed="rId2"/>
          <a:stretch>
            <a:fillRect/>
          </a:stretch>
        </p:blipFill>
        <p:spPr>
          <a:xfrm>
            <a:off x="2820924" y="4101084"/>
            <a:ext cx="210312" cy="210312"/>
          </a:xfrm>
          <a:prstGeom prst="rect">
            <a:avLst/>
          </a:prstGeom>
        </p:spPr>
      </p:pic>
      <p:sp>
        <p:nvSpPr>
          <p:cNvPr id="37" name="Text 33"/>
          <p:cNvSpPr txBox="1"/>
          <p:nvPr/>
        </p:nvSpPr>
        <p:spPr>
          <a:xfrm>
            <a:off x="3273552" y="3840480"/>
            <a:ext cx="1143000" cy="731520"/>
          </a:xfrm>
          <a:prstGeom prst="rect">
            <a:avLst/>
          </a:prstGeom>
          <a:noFill/>
          <a:ln/>
        </p:spPr>
        <p:txBody>
          <a:bodyPr wrap="square" lIns="0" tIns="0" rIns="0" bIns="0" rtlCol="0" anchor="ctr"/>
          <a:lstStyle/>
          <a:p>
            <a:pPr indent="0" marL="0">
              <a:buNone/>
            </a:pPr>
            <a:r>
              <a:rPr lang="en-US" sz="1400" b="1" dirty="0">
                <a:solidFill>
                  <a:schemeClr val="tx1"/>
                </a:solidFill>
              </a:rPr>
              <a:t>Progress Passport</a:t>
            </a:r>
            <a:endParaRPr lang="en-US" sz="1400" dirty="0"/>
          </a:p>
        </p:txBody>
      </p:sp>
      <p:sp>
        <p:nvSpPr>
          <p:cNvPr id="38" name="Feature chip 3"/>
          <p:cNvSpPr/>
          <p:nvPr/>
        </p:nvSpPr>
        <p:spPr>
          <a:xfrm>
            <a:off x="4663440" y="3840480"/>
            <a:ext cx="1920240" cy="731520"/>
          </a:xfrm>
          <a:prstGeom prst="roundRect">
            <a:avLst>
              <a:gd name="adj" fmla="val 12500"/>
            </a:avLst>
          </a:prstGeom>
          <a:solidFill>
            <a:schemeClr val="bg2"/>
          </a:solidFill>
          <a:ln/>
        </p:spPr>
      </p:sp>
      <p:sp>
        <p:nvSpPr>
          <p:cNvPr id="39" name="Weekly Brief icon bg"/>
          <p:cNvSpPr/>
          <p:nvPr/>
        </p:nvSpPr>
        <p:spPr>
          <a:xfrm>
            <a:off x="4800600" y="3977640"/>
            <a:ext cx="457200" cy="457200"/>
          </a:xfrm>
          <a:prstGeom prst="ellipse">
            <a:avLst/>
          </a:prstGeom>
          <a:solidFill>
            <a:schemeClr val="accent2"/>
          </a:solidFill>
          <a:ln/>
        </p:spPr>
      </p:sp>
      <p:pic>
        <p:nvPicPr>
          <p:cNvPr id="40" name="Image 2" descr="Weekly Brief">    </p:cNvPr>
          <p:cNvPicPr>
            <a:picLocks noChangeAspect="1"/>
          </p:cNvPicPr>
          <p:nvPr/>
        </p:nvPicPr>
        <p:blipFill>
          <a:blip r:embed="rId3"/>
          <a:stretch>
            <a:fillRect/>
          </a:stretch>
        </p:blipFill>
        <p:spPr>
          <a:xfrm>
            <a:off x="4924044" y="4101084"/>
            <a:ext cx="210312" cy="210312"/>
          </a:xfrm>
          <a:prstGeom prst="rect">
            <a:avLst/>
          </a:prstGeom>
        </p:spPr>
      </p:pic>
      <p:sp>
        <p:nvSpPr>
          <p:cNvPr id="41" name="Text 36"/>
          <p:cNvSpPr txBox="1"/>
          <p:nvPr/>
        </p:nvSpPr>
        <p:spPr>
          <a:xfrm>
            <a:off x="5376672" y="3840480"/>
            <a:ext cx="1143000" cy="731520"/>
          </a:xfrm>
          <a:prstGeom prst="rect">
            <a:avLst/>
          </a:prstGeom>
          <a:noFill/>
          <a:ln/>
        </p:spPr>
        <p:txBody>
          <a:bodyPr wrap="square" lIns="0" tIns="0" rIns="0" bIns="0" rtlCol="0" anchor="ctr"/>
          <a:lstStyle/>
          <a:p>
            <a:pPr indent="0" marL="0">
              <a:buNone/>
            </a:pPr>
            <a:r>
              <a:rPr lang="en-US" sz="1400" b="1" dirty="0">
                <a:solidFill>
                  <a:schemeClr val="tx1"/>
                </a:solidFill>
              </a:rPr>
              <a:t>Weekly Brief</a:t>
            </a:r>
            <a:endParaRPr lang="en-US" sz="1400" dirty="0"/>
          </a:p>
        </p:txBody>
      </p:sp>
      <p:sp>
        <p:nvSpPr>
          <p:cNvPr id="42" name="Feature chip 4"/>
          <p:cNvSpPr/>
          <p:nvPr/>
        </p:nvSpPr>
        <p:spPr>
          <a:xfrm>
            <a:off x="6766560" y="3840480"/>
            <a:ext cx="1920240" cy="731520"/>
          </a:xfrm>
          <a:prstGeom prst="roundRect">
            <a:avLst>
              <a:gd name="adj" fmla="val 12500"/>
            </a:avLst>
          </a:prstGeom>
          <a:solidFill>
            <a:schemeClr val="bg2"/>
          </a:solidFill>
          <a:ln/>
        </p:spPr>
      </p:sp>
      <p:sp>
        <p:nvSpPr>
          <p:cNvPr id="43" name="FutureFund icon bg"/>
          <p:cNvSpPr/>
          <p:nvPr/>
        </p:nvSpPr>
        <p:spPr>
          <a:xfrm>
            <a:off x="6903720" y="3977640"/>
            <a:ext cx="457200" cy="457200"/>
          </a:xfrm>
          <a:prstGeom prst="ellipse">
            <a:avLst/>
          </a:prstGeom>
          <a:solidFill>
            <a:schemeClr val="accent2"/>
          </a:solidFill>
          <a:ln/>
        </p:spPr>
      </p:sp>
      <p:pic>
        <p:nvPicPr>
          <p:cNvPr id="44" name="Image 3" descr="FutureFund">    </p:cNvPr>
          <p:cNvPicPr>
            <a:picLocks noChangeAspect="1"/>
          </p:cNvPicPr>
          <p:nvPr/>
        </p:nvPicPr>
        <p:blipFill>
          <a:blip r:embed="rId4"/>
          <a:stretch>
            <a:fillRect/>
          </a:stretch>
        </p:blipFill>
        <p:spPr>
          <a:xfrm>
            <a:off x="7027164" y="4101084"/>
            <a:ext cx="210312" cy="210312"/>
          </a:xfrm>
          <a:prstGeom prst="rect">
            <a:avLst/>
          </a:prstGeom>
        </p:spPr>
      </p:pic>
      <p:sp>
        <p:nvSpPr>
          <p:cNvPr id="45" name="Text 39"/>
          <p:cNvSpPr txBox="1"/>
          <p:nvPr/>
        </p:nvSpPr>
        <p:spPr>
          <a:xfrm>
            <a:off x="7479792" y="3840480"/>
            <a:ext cx="1143000" cy="731520"/>
          </a:xfrm>
          <a:prstGeom prst="rect">
            <a:avLst/>
          </a:prstGeom>
          <a:noFill/>
          <a:ln/>
        </p:spPr>
        <p:txBody>
          <a:bodyPr wrap="square" lIns="0" tIns="0" rIns="0" bIns="0" rtlCol="0" anchor="ctr"/>
          <a:lstStyle/>
          <a:p>
            <a:pPr indent="0" marL="0">
              <a:buNone/>
            </a:pPr>
            <a:r>
              <a:rPr lang="en-US" sz="1400" b="1" dirty="0">
                <a:solidFill>
                  <a:schemeClr val="tx1"/>
                </a:solidFill>
              </a:rPr>
              <a:t>FutureFund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1005840"/>
          </a:xfrm>
          <a:prstGeom prst="rect">
            <a:avLst/>
          </a:prstGeom>
          <a:noFill/>
          <a:ln/>
        </p:spPr>
        <p:txBody>
          <a:bodyPr wrap="square" lIns="0" tIns="0" rIns="0" bIns="0" rtlCol="0" anchor="t"/>
          <a:lstStyle/>
          <a:p>
            <a:pPr algn="l" indent="0" marL="0">
              <a:buNone/>
            </a:pPr>
            <a:r>
              <a:rPr lang="en-US" sz="3600" b="1" dirty="0">
                <a:solidFill>
                  <a:schemeClr val="bg1"/>
                </a:solidFill>
              </a:rPr>
              <a:t>Parents guide; teens get useful independence</a:t>
            </a:r>
            <a:endParaRPr lang="en-US" sz="3600" dirty="0"/>
          </a:p>
        </p:txBody>
      </p:sp>
      <p:sp>
        <p:nvSpPr>
          <p:cNvPr id="3" name="Text 1"/>
          <p:cNvSpPr txBox="1"/>
          <p:nvPr/>
        </p:nvSpPr>
        <p:spPr>
          <a:xfrm>
            <a:off x="548640" y="1645920"/>
            <a:ext cx="4937760" cy="731520"/>
          </a:xfrm>
          <a:prstGeom prst="rect">
            <a:avLst/>
          </a:prstGeom>
          <a:noFill/>
          <a:ln/>
        </p:spPr>
        <p:txBody>
          <a:bodyPr wrap="square" lIns="0" tIns="0" rIns="0" bIns="0" rtlCol="0" anchor="t"/>
          <a:lstStyle/>
          <a:p>
            <a:pPr indent="0" marL="0">
              <a:buNone/>
            </a:pPr>
            <a:r>
              <a:rPr lang="en-US" sz="2000" b="1" dirty="0">
                <a:solidFill>
                  <a:schemeClr val="accent1"/>
                </a:solidFill>
              </a:rPr>
              <a:t>The next generation deserves a better first step into crypto.</a:t>
            </a:r>
            <a:endParaRPr lang="en-US" sz="2000" dirty="0"/>
          </a:p>
        </p:txBody>
      </p:sp>
      <p:sp>
        <p:nvSpPr>
          <p:cNvPr id="4" name="Text 2"/>
          <p:cNvSpPr txBox="1"/>
          <p:nvPr/>
        </p:nvSpPr>
        <p:spPr>
          <a:xfrm>
            <a:off x="548640" y="2514600"/>
            <a:ext cx="4937760" cy="2103120"/>
          </a:xfrm>
          <a:prstGeom prst="rect">
            <a:avLst/>
          </a:prstGeom>
          <a:noFill/>
          <a:ln/>
        </p:spPr>
        <p:txBody>
          <a:bodyPr wrap="square" lIns="0" tIns="0" rIns="0" bIns="0" rtlCol="0" anchor="t"/>
          <a:lstStyle/>
          <a:p>
            <a:pPr indent="0" marL="0">
              <a:spcAft>
                <a:spcPts val="800"/>
              </a:spcAft>
              <a:buNone/>
            </a:pPr>
            <a:r>
              <a:rPr lang="en-US" sz="1400" dirty="0">
                <a:solidFill>
                  <a:schemeClr val="bg1"/>
                </a:solidFill>
              </a:rPr>
              <a:t>I’m building Fam-Fi because hearing about crypto isn’t enough to understand it. Teens need a reason to use it, room to learn, and someone they trust beside them.</a:t>
            </a:r>
            <a:endParaRPr lang="en-US" sz="1400" dirty="0"/>
          </a:p>
          <a:p>
            <a:pPr indent="0" marL="0">
              <a:buNone/>
            </a:pPr>
            <a:r>
              <a:rPr lang="en-US" sz="1400" dirty="0">
                <a:solidFill>
                  <a:schemeClr val="bg1"/>
                </a:solidFill>
              </a:rPr>
              <a:t>Fam-Fi starts with allowance, earning, and saving, bringing teens, parents, and relatives into crypto together. My vision is to make the family a doorway into crypto, helping teens grow into confident, independent users.</a:t>
            </a:r>
            <a:endParaRPr lang="en-US" sz="1400" dirty="0"/>
          </a:p>
        </p:txBody>
      </p:sp>
      <p:sp>
        <p:nvSpPr>
          <p:cNvPr id="5" name="Closing arch frame top"/>
          <p:cNvSpPr/>
          <p:nvPr/>
        </p:nvSpPr>
        <p:spPr>
          <a:xfrm>
            <a:off x="6126480" y="1554480"/>
            <a:ext cx="2468880" cy="2468880"/>
          </a:xfrm>
          <a:prstGeom prst="ellipse">
            <a:avLst/>
          </a:prstGeom>
          <a:solidFill>
            <a:schemeClr val="accent1"/>
          </a:solidFill>
          <a:ln/>
        </p:spPr>
      </p:sp>
      <p:sp>
        <p:nvSpPr>
          <p:cNvPr id="6" name="Closing arch frame base"/>
          <p:cNvSpPr/>
          <p:nvPr/>
        </p:nvSpPr>
        <p:spPr>
          <a:xfrm>
            <a:off x="6126480" y="2788920"/>
            <a:ext cx="2468880" cy="1874520"/>
          </a:xfrm>
          <a:prstGeom prst="rect">
            <a:avLst/>
          </a:prstGeom>
          <a:solidFill>
            <a:schemeClr val="accent1"/>
          </a:solidFill>
          <a:ln/>
        </p:spPr>
      </p:sp>
      <p:sp>
        <p:nvSpPr>
          <p:cNvPr id="7" name="Closing arch inner top"/>
          <p:cNvSpPr/>
          <p:nvPr/>
        </p:nvSpPr>
        <p:spPr>
          <a:xfrm>
            <a:off x="6190488" y="1618488"/>
            <a:ext cx="2340864" cy="2340864"/>
          </a:xfrm>
          <a:prstGeom prst="ellipse">
            <a:avLst/>
          </a:prstGeom>
          <a:solidFill>
            <a:schemeClr val="tx2"/>
          </a:solidFill>
          <a:ln/>
        </p:spPr>
      </p:sp>
      <p:sp>
        <p:nvSpPr>
          <p:cNvPr id="8" name="Closing arch inner base"/>
          <p:cNvSpPr/>
          <p:nvPr/>
        </p:nvSpPr>
        <p:spPr>
          <a:xfrm>
            <a:off x="6190488" y="2788920"/>
            <a:ext cx="2340864" cy="1810512"/>
          </a:xfrm>
          <a:prstGeom prst="rect">
            <a:avLst/>
          </a:prstGeom>
          <a:solidFill>
            <a:schemeClr val="tx2"/>
          </a:solidFill>
          <a:ln/>
        </p:spPr>
      </p:sp>
      <p:pic>
        <p:nvPicPr>
          <p:cNvPr id="9" name="Image 0" descr="Open door: the family as a doorway into crypto">    </p:cNvPr>
          <p:cNvPicPr>
            <a:picLocks noChangeAspect="1"/>
          </p:cNvPicPr>
          <p:nvPr/>
        </p:nvPicPr>
        <p:blipFill>
          <a:blip r:embed="rId1"/>
          <a:stretch>
            <a:fillRect/>
          </a:stretch>
        </p:blipFill>
        <p:spPr>
          <a:xfrm>
            <a:off x="6766560" y="2423160"/>
            <a:ext cx="1188720" cy="1188720"/>
          </a:xfrm>
          <a:prstGeom prst="rect">
            <a:avLst/>
          </a:prstGeom>
        </p:spPr>
      </p:pic>
      <p:sp>
        <p:nvSpPr>
          <p:cNvPr id="10" name="Text 7"/>
          <p:cNvSpPr txBox="1"/>
          <p:nvPr/>
        </p:nvSpPr>
        <p:spPr>
          <a:xfrm>
            <a:off x="6217920" y="3840480"/>
            <a:ext cx="2286000" cy="640080"/>
          </a:xfrm>
          <a:prstGeom prst="rect">
            <a:avLst/>
          </a:prstGeom>
          <a:noFill/>
          <a:ln/>
        </p:spPr>
        <p:txBody>
          <a:bodyPr wrap="square" lIns="0" tIns="0" rIns="0" bIns="0" rtlCol="0" anchor="ctr"/>
          <a:lstStyle/>
          <a:p>
            <a:pPr algn="ctr" indent="0" marL="0">
              <a:buNone/>
            </a:pPr>
            <a:r>
              <a:rPr lang="en-US" sz="1600" b="1" dirty="0">
                <a:solidFill>
                  <a:schemeClr val="bg1"/>
                </a:solidFill>
              </a:rPr>
              <a:t>The family is the doorway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am-Fi">
  <a:themeElements>
    <a:clrScheme name="Fam-Fi">
      <a:dk1>
        <a:srgbClr val="0E1512"/>
      </a:dk1>
      <a:lt1>
        <a:srgbClr val="FFFFFF"/>
      </a:lt1>
      <a:dk2>
        <a:srgbClr val="1B2B24"/>
      </a:dk2>
      <a:lt2>
        <a:srgbClr val="EEF3F0"/>
      </a:lt2>
      <a:accent1>
        <a:srgbClr val="2ED47A"/>
      </a:accent1>
      <a:accent2>
        <a:srgbClr val="157A47"/>
      </a:accent2>
      <a:accent3>
        <a:srgbClr val="D9483B"/>
      </a:accent3>
      <a:accent4>
        <a:srgbClr val="F2B84B"/>
      </a:accent4>
      <a:accent5>
        <a:srgbClr val="5B6B64"/>
      </a:accent5>
      <a:accent6>
        <a:srgbClr val="9FD9B8"/>
      </a:accent6>
      <a:hlink>
        <a:srgbClr val="157A47"/>
      </a:hlink>
      <a:folHlink>
        <a:srgbClr val="5B6B64"/>
      </a:folHlink>
    </a:clrScheme>
    <a:fontScheme name="Fam-F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Fam-Fi</dc:title>
  <dc:subject>PptxGenJS Presentation</dc:subject>
  <dc:creator>Naveen R S</dc:creator>
  <cp:lastModifiedBy>Naveen R S</cp:lastModifiedBy>
  <cp:revision>1</cp:revision>
  <dcterms:created xsi:type="dcterms:W3CDTF">2026-10-13T23:16:02Z</dcterms:created>
  <dcterms:modified xsi:type="dcterms:W3CDTF">2026-10-13T23:16:02Z</dcterms:modified>
</cp:coreProperties>
</file>